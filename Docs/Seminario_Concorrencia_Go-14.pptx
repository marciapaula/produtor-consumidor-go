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9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6" r:id="rId31"/>
    <p:sldId id="287" r:id="rId32"/>
    <p:sldId id="288" r:id="rId33"/>
    <p:sldId id="289" r:id="rId34"/>
    <p:sldId id="290" r:id="rId35"/>
    <p:sldId id="291" r:id="rId36"/>
    <p:sldId id="293" r:id="rId37"/>
    <p:sldId id="292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968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 o tema e o fio da apresentação: concorrência não é só executar coisas ao mesmo tempo, é coordenar atividades que avançam em ritmos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CA11C-AAA9-01EA-652A-BF217EC29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904A2B-F324-85F1-270F-F96B769CE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E47918-5058-CDBF-8598-24B63132C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Convidar o público a abrir o site pelo QR code ou pelo endereço na tela: os slides seguem a mesma ordem das cenas da página. Deixar o QR visível por alguns segundos e passar para a pergunta que guia a apresentação.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07BBD-B0A6-CAAD-7B07-EFD16D0D62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53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pergunta que guia toda a apresentação. Um lado produz, o outro consome, e eles nunca estão no mesmo ritmo. Entre os dois existe um espaço de capacidade finita. Voltaremos a esta pergunta no final para ver como cada modelo a responde.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Definir os três papéis. O produtor gera dados, o consumidor os retira e processa, e o buffer, com capacidade finita N, fica no meio. O ponto importante: o buffer existe porque os dois lados trabalham em velocidades diferentes. Sem ele, cada troca obrigaria o mais rápido a esperar o mais lento.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buffer tem capacidade N e só pode estar em três situações: vazio, parcialmente ocupado ou cheio. No estado parcial, todos avançam. Nos extremos, alguém precisa esperar. Se o buffer fosse infinito, o produtor nunca esperaria; é justamente o limite N que cria o problema de sincronização.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cenário de descompasso. O produtor deposita itens mais rápido do que o consumidor consegue retirar. A cada instante, t1, t2, t3, o buffer fica mais ocupado, até encher. A partir daí, o produtor não pode depositar: precisa esperar. A pergunta é como esperar sem travar o sistema e sem ficar gastando CPU verificando o buffer em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cenário simétrico. Agora o consumidor é mais rápido e o buffer se esvazia. O consumidor precisa esperar até existir um item. O risco aqui é ler lixo: uma posição vazia, um valor nulo, um dado que ainda não foi escrito. Cheio e vazio são as duas condições críticas do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basta impedir que dois participantes mexam no buffer ao mesmo tempo, que é a exclusão mútua. Também é preciso controlar quando cada um pode avançar: o produtor só quando há espaço, o consumidor só quando há item. São dois problemas diferentes, e a solução precisa resolver os dois sem espera ocupada, ou seja, sem um laço verificando uma condição e queimando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Historicamente, linguagens como C e Java resolvem esse problema com memória compartilhada. O buffer, o contador de itens e os índices de entrada e saída são variáveis que várias threads leem e escrevem. A linguagem não impede acessos simultâneos: quem garante a correção é o programador, com mutexes, semáforos e variáveis de condição.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condição de corrida acontece quando o resultado depende da ordem em que operações concorrentes são intercaladas. O exemplo clássico: incrementar um contador parece uma operação só, mas na máquina são três passos, ler, somar e escrever. Se o produtor incrementa e o consumidor decrementa ao mesmo tempo, sem proteção, um pode sobrescrever o trabalho do outro. O pior é que não há erro: o programa segue com um contador errado.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a tabela passo a passo. O buffer tem cinco itens. Em A1 o produtor lê cinco; antes de escrever, o escalonador passa para o consumidor, que em B1 também lê cinco. O produtor escreve seis; o consumidor, que ainda tem cinco no registrador, escreve quatro. Um incremento e um decremento deveriam dar cinco, mas o contador diz quatro. Com outra ordem, poderia dar seis. É isso que significa depender da intercalação.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Deadlock, ou impasse, é quando os participantes ficam bloqueados para sempre esperando uns pelos outros. É importante não confundir com espera normal: esperar por espaço no buffer é saudável, porque em algum momento o consumidor vai liberar. No deadlock, a condição esperada nunca vai acontecer, porque quem poderia satisfazê-la também está parado. E, em C ou Java, o programa não avisa: ele só para.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exemplo de Tanenbaum para a solução ingênua com sleep e wakeup. O consumidor verifica que o buffer está vazio, mas antes de dormir é interrompido. O produtor insere um item e, como o contador passou de zero para um, manda acordar o consumidor. Só que ele ainda não estava dormindo, então o sinal se perde. Depois, o consumidor dorme para sempre, e o produtor, ao encher o buffer, também dorme. A lição: a verificação e a decisão de dormir precisam ser atômicas, ou o sinal precisa ser guardado. É daí que vêm os semáforos.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resposta tradicional é combinar primitivas de sincronização. Semáforos contam recursos. Mutexes garantem que só uma thread por vez entre na região crítica. Variáveis de condição permitem esperar até algo mudar. Tudo isso funciona, e é o que se ensina em Sistemas Operacionais. Mas exige disciplina: o programador precisa usar a primitiva certa, no lugar certo, na ordem certa. Na prática, combinam-se semáforos, como no Tanenbaum, ou mutex com variáveis de condição, como no pthreads.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solução clássica usa três semáforos. empty começa em N e conta os espaços livres; full começa em zero e conta os itens; mutex vale um e protege o buffer. O produtor faz down em empty, ou seja, reserva um espaço ou dorme se não houver; depois down no mutex para entrar na região crítica. O consumidor é simétrico com full. Note que o sinal agora fica guardado no contador: não há mais sinal perdido.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C com pthreads, o mutex delimita a região crítica: lock para entrar, unlock para sair. Dentro dela, a variável de condição resolve a espera: se o buffer está cheio, pthread_cond_wait libera o mutex e dorme de forma atômica, o que evita o sinal perdido. Ao acordar, o while testa de novo a condição. Depois de inserir, o produtor sinaliza que há item. Repare quantas chamadas de sincronização existem para inserir um único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exemplo mostra a fragilidade do modelo. As duas versões usam exatamente as mesmas chamadas; só a ordem de duas linhas muda. Na versão errada, com o buffer cheio, o produtor adquire o mutex e em seguida dorme esperando espaço, sem soltar o mutex. O consumidor, que liberaria espaço, precisa do mutex e fica bloqueado. Deadlock. O compilador não avisa nada: o erro só aparece em execução, às vezes, dependendo do timing. No site, na cena 08, dá para reordenar as linhas e provocar o impasse.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 sobe um nível de abstração com monitores. Todo objeto tem uma trava implícita, e synchronized garante que só uma thread execute o método por vez. A coordenação continua explícita: wait libera a trava e espera; notifyAll acorda as threads que esperam. Ainda é preciso lembrar do while em vez do if e chamar notifyAll no lugar certo. Menos código que C, mas a responsabilidade pela sincronização continua com o programador.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ponto de virada. Até aqui, a pergunta era: como proteger a memória compartilhada? A proposta que Go adota muda a pergunta: e se ninguém compartilhasse o buffer diretamente? Os participantes passam a trocar mensagens por um canal, e a sincronização acontece na própria troca. É uma mudança de modelo mental, não só de sintaxe.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1978, C.A.R. Hoare publicou Communicating Sequential Processes. A ideia é descrever sistemas concorrentes como processos isolados, cada um sequencial por dentro, que se coordenam apenas trocando mensagens por canais. A memória compartilhada não é protegida com mais cuidado: ela é banida do modelo. Essa ideia amadureceu no Bell Labs, passando por Squeak, Newsqueak, Alef e Limbo, até chegar ao Go, criado no Google por Griesemer, Pike e Thompson a partir de 2007 e anunciado em 2009.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lema que resume a filosofia de Go. Ele aparece no Effective Go e é citado no post Share Memory By Communicating, de Andrew Gerrand, no blog oficial. A ideia central é a transferência de propriedade: em vez de duas goroutines acessarem o mesmo dado protegido por uma trava, o dado viaja pelo canal. Quem enviou não mexe mais nele; quem recebeu passa a ser o dono. Vale frisar que isso é uma disciplina que o canal facilita, não uma proibição imposta pelo compilador.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lema diz para comunicar em vez de compartilhar. Para isso, Go precisa de duas peças: quem executa, as goroutines, e por onde a informação passa, os canais. Começo por quem executa. Uma goroutine é a unidade de execução concorrente de Go, criada com a palavra-chave go. Ela não é uma thread do sistema operacional: é gerenciada pelo runtime no espaço de usuário. Na implementação atual, a pilha tem no mínimo 2 KB, a constante stackMin do runtime/stack.go; desde o Go 1.19 ela pode começar um pouco maior, pela média de uso, e depois cresce ou encolhe conforme a necessidade. O escalonador distribui muitas goroutines, G, entre processadores lógicos, P, que executam sobre poucas threads do sistema, M: é o modelo G-M-P. Evito comparar com números de memória de threads, porque isso depende do sistema e da configuração.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channel é o mecanismo nativo de comunicação entre goroutines. make(chan int, 3) cria um canal que transporta inteiros e tem capacidade para três valores. As funções len e cap mostram quantos itens estão no buffer e qual é a capacidade. Já dá para perceber a ligação com o problema: isso é, literalmente, um buffer de capacidade finita.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elo principal entre a teoria e a implementação. Cada peça da solução clássica tem uma correspondente no canal com buffer. O vetor de N posições vira a capacidade do canal; o contador vira len; os índices de entrada e saída são mantidos pelo runtime; o mutex continua existindo, mas dentro do runtime; e os semáforos empty e full são substituídos pelo bloqueio automático das operações de envio e recebimento.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ver o bloqueio em três quadros. No primeiro, o canal está cheio e o produtor tenta enviar: a goroutine é suspensa ali mesmo, na linha do envio. No segundo, o consumidor recebe um valor e libera uma posição. No terceiro, o envio que estava parado prossegue sozinho. Comparem com o slide dos semáforos: não existe down(&amp;empty), não existe while com wait. A espera está dentro da operação.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caso simétrico. Com o canal vazio, a goroutine que tenta receber é suspensa. Quando o produtor envia, o recebimento prossegue com o valor. Buffer cheio bloqueia o envio, buffer vazio bloqueia o recebimento: as duas condições críticas do Ato I estão resolvidas pela semântica das operações. Vale mencionar que um canal sem buffer obriga emissor e receptor a se encontrarem, exatamente como no modelo original de Hoare.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fluxo precisa de um fim. Quando o produtor termina, chama close(canal), que sinaliza que não haverá mais envios. O consumidor usa for item := range canal: o laço continua recebendo, inclusive os itens que ainda estão no buffer depois do close, e encerra sozinho quando o canal está fechado e vazio. Sem isso, o consumidor esperaria para sempre. Um cuidado: enviar para um canal fechado causa panic, por isso a convenção é que o produtor feche o canal.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permite restringir a direção do canal na assinatura da função. chan&lt;- int, com a seta apontando para dentro do canal, só permite envio: é o papel do produtor. &lt;-chan int, com a seta saindo, só permite recebimento: é o consumidor. Se o produtor tentar receber, o programa nem compila. Com isso, os papéis do problema ficam documentados no tipo e verificados pelo compilador.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Canais transportam dados, mas às vezes precisamos só saber quando todo mundo terminou. Para isso existe o sync.WaitGroup, um contador: Add registra o trabalho, cada goroutine chama Done ao terminar, geralmente com defer, e Wait bloqueia até o contador chegar a zero. O modelo de memória de Go garante que o que aconteceu antes de Done é visível depois que Wait retorna. Na nossa solução, é o que impede a main de terminar antes dos consumidores.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da demonstração, a estrutura da solução. A main cria o canal com capacidade 3 e um WaitGroup. Dispara uma goroutine produtora, que envia os itens e fecha o canal ao terminar, e 2 goroutines consumidoras, que consomem com range. No fim, a main espera os consumidores com grupo.Wait. Produtor e consumidor usam time.Sleep para simular tempos de produção e de consumo diferentes. Este esqueleto é exatamente o código entregue, o mesmo que abre no permalink.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da demonstração. Antes de cada execução, pedir uma previsão ao público. Primeiro, rodar como está: a fase 1 mostra os consumidores esperando por item e a fase 2 mostra o canal enchendo até 3/3 e o produtor esperando por espaço. Segundo, baixar a capacidade para 1: o produtor passa a esperar a cada item da rajada. Terceiro, deixar um único consumidor: na fase 1 ele ainda dá conta, mas na rajada o canal fica cheio por mais tempo e o produtor espera várias vezes. Bônus: comentar o close do produtor junto com o registrar logo abaixo dele, para o log não anunciar um fechamento que não aconteceu; o range dos consumidores nunca termina e o próprio runtime detecta o impasse e aborta com a mensagem de deadlock. Lembrar que o Playground simula o tempo, então não estamos medindo desempenho. Se o Playground estiver fora do ar, usar o site ou uma saída salva. Para fechar: vimos o canal resolver na prática as duas esperas do Ato I. Agora dá para comparar, lado a lado, onde cada linguagem coloca essa responsabilidade.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comparação não é sobre velocidade. Go não é automaticamente mais rápido que C ou Java. O que muda é onde fica a responsabilidade pela sincronização. Em C, tudo é explícito e de baixo nível, o que dá controle e também mais chances de erro. Java oferece monitores, mas o programador ainda coordena wait e notify. Em Go, o produtor-consumidor se expressa diretamente com um canal, ao custo de precisar entender bem a semântica de bloqueio e fechamento. Go também tem mutexes no pacote sync, e eles continuam úteis. Se perguntarem pelos semáforos do C: o nosso código usa mutex e variáveis de condição, a versão do slide 16; os semáforos aparecem no slide 15, como a solução clássica do Tanenbaum.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slide de honestidade técnica. Canais evitam corridas no dado que é transferido, mas se eu envio um ponteiro e continuo alterando o dado, volto a compartilhar memória e posso ter race condition; a ferramenta go run -race detecta isso. Deadlock também continua possível, e vimos isso na demonstração. Canais fechados têm regras. E mutexes continuam fazendo parte de Go: para proteger um contador simples, um mutex costuma ser mais claro. O que muda é que o caso típico do produtor-consumidor fica muito mais seguro de escrever.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Voltar à pergunta do início: como fazer agentes em ritmos diferentes cooperarem sem corromper dados e sem travar? O modelo tradicional responde com memória compartilhada e primitivas explícitas, que funcionam mas dependem da disciplina do programador. Go responde com comunicação: o canal é o buffer, e a espera está embutida nas operações. A coordenação deixa de ser uma disciplina e passa a ser uma propriedade da estrutura.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para perguntas. Se ninguém perguntar de imediato, retomar um dos cenários da demonstração: o que muda com capacidade = 1, ou o que acontece sem o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7F551-23CC-80B5-F7E6-470679C1D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020B78-DDEC-B17B-0B7D-FC6D0B360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D1DB01-AA5F-FF64-0D34-A8ABE7F80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e encerrar. As referências ficam no slide seguinte, como apoio para perguntas sobre as fontes.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FC629-A67A-329A-C307-8F6E3C7D24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7767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62D7C-6227-F7DA-1145-C0CC1B83A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D63DB-ABD5-3CA0-5958-1EF863AF5F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022B6E-F564-7D19-0565-5A01A4A88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as referências são verificáveis. Conferir a edição do Tanenbaum usada pelo grupo e ajustar se necessário. Acesso às páginas web em setembro de 2026.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F35BE-996A-7E26-27A5-22599AE054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62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441197" y="284490"/>
            <a:ext cx="10842153" cy="1315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 err="1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Produtor</a:t>
            </a:r>
            <a:r>
              <a:rPr lang="en-US" sz="66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6600" b="1" dirty="0" err="1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Consumidor</a:t>
            </a:r>
            <a:r>
              <a:rPr lang="en-US" sz="66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</a:p>
          <a:p>
            <a:pPr marL="0" indent="0">
              <a:buNone/>
            </a:pPr>
            <a:endParaRPr lang="en-US" sz="4200" b="1" dirty="0">
              <a:solidFill>
                <a:srgbClr val="E8EDE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n-US" sz="4400" b="1" dirty="0" err="1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Concorrência</a:t>
            </a:r>
            <a:r>
              <a:rPr lang="en-US" sz="4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400" b="1" dirty="0" err="1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</a:t>
            </a:r>
            <a:r>
              <a:rPr lang="en-US" sz="4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Go</a:t>
            </a:r>
            <a:endParaRPr lang="en-US" sz="4400" b="1" dirty="0">
              <a:solidFill>
                <a:srgbClr val="E8EDEE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buNone/>
            </a:pP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461772" y="3364992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Sincronização, comunicação e o modelo CSP — do buffer limitado às goroutines e canais.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61772" y="5484675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A97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Andrei Barros, Gabriel Silva, Márcia Paula</a:t>
            </a:r>
            <a:endParaRPr lang="en-US" sz="1600" dirty="0"/>
          </a:p>
        </p:txBody>
      </p:sp>
      <p:grpSp>
        <p:nvGrpSpPr>
          <p:cNvPr id="26" name="Diagrama 1"/>
          <p:cNvGrpSpPr/>
          <p:nvPr/>
        </p:nvGrpSpPr>
        <p:grpSpPr>
          <a:xfrm>
            <a:off x="6986534" y="2610612"/>
            <a:ext cx="4681728" cy="2331720"/>
            <a:chOff x="6743700" y="1577340"/>
            <a:chExt cx="4681728" cy="2331720"/>
          </a:xfrm>
        </p:grpSpPr>
        <p:sp>
          <p:nvSpPr>
            <p:cNvPr id="7" name="Shape 5"/>
            <p:cNvSpPr/>
            <p:nvPr/>
          </p:nvSpPr>
          <p:spPr>
            <a:xfrm>
              <a:off x="10739628" y="1577340"/>
              <a:ext cx="685800" cy="68580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10739628" y="1577340"/>
              <a:ext cx="685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</a:t>
              </a:r>
              <a:endParaRPr lang="en-US" sz="2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10739628" y="3223260"/>
              <a:ext cx="685800" cy="68580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10739628" y="3223260"/>
              <a:ext cx="685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</a:t>
              </a:r>
              <a:endParaRPr lang="en-US" sz="2000" dirty="0"/>
            </a:p>
          </p:txBody>
        </p:sp>
        <p:sp>
          <p:nvSpPr>
            <p:cNvPr id="11" name="Shape 9"/>
            <p:cNvSpPr/>
            <p:nvPr/>
          </p:nvSpPr>
          <p:spPr>
            <a:xfrm flipV="1">
              <a:off x="10076688" y="2103120"/>
              <a:ext cx="667512" cy="548640"/>
            </a:xfrm>
            <a:prstGeom prst="line">
              <a:avLst/>
            </a:prstGeom>
            <a:noFill/>
            <a:ln w="22225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Shape 10"/>
            <p:cNvSpPr/>
            <p:nvPr/>
          </p:nvSpPr>
          <p:spPr>
            <a:xfrm>
              <a:off x="10076688" y="2834640"/>
              <a:ext cx="667512" cy="548640"/>
            </a:xfrm>
            <a:prstGeom prst="line">
              <a:avLst/>
            </a:prstGeom>
            <a:noFill/>
            <a:ln w="22225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11"/>
            <p:cNvSpPr/>
            <p:nvPr/>
          </p:nvSpPr>
          <p:spPr>
            <a:xfrm>
              <a:off x="7964424" y="2487168"/>
              <a:ext cx="457200" cy="51206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Shape 12"/>
            <p:cNvSpPr/>
            <p:nvPr/>
          </p:nvSpPr>
          <p:spPr>
            <a:xfrm>
              <a:off x="8074152" y="2624328"/>
              <a:ext cx="237744" cy="237744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Shape 13"/>
            <p:cNvSpPr/>
            <p:nvPr/>
          </p:nvSpPr>
          <p:spPr>
            <a:xfrm>
              <a:off x="8485632" y="2487168"/>
              <a:ext cx="457200" cy="51206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Shape 14"/>
            <p:cNvSpPr/>
            <p:nvPr/>
          </p:nvSpPr>
          <p:spPr>
            <a:xfrm>
              <a:off x="8595360" y="2624328"/>
              <a:ext cx="237744" cy="237744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15"/>
            <p:cNvSpPr/>
            <p:nvPr/>
          </p:nvSpPr>
          <p:spPr>
            <a:xfrm>
              <a:off x="9006840" y="2487168"/>
              <a:ext cx="457200" cy="51206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Shape 16"/>
            <p:cNvSpPr/>
            <p:nvPr/>
          </p:nvSpPr>
          <p:spPr>
            <a:xfrm>
              <a:off x="9528048" y="2487168"/>
              <a:ext cx="457200" cy="51206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7964424" y="3090672"/>
              <a:ext cx="202082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canal · capacidade N</a:t>
              </a:r>
              <a:endParaRPr lang="en-US" sz="11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7452360" y="2743200"/>
              <a:ext cx="475488" cy="914"/>
            </a:xfrm>
            <a:prstGeom prst="line">
              <a:avLst/>
            </a:prstGeom>
            <a:noFill/>
            <a:ln w="22225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Shape 19"/>
            <p:cNvSpPr/>
            <p:nvPr/>
          </p:nvSpPr>
          <p:spPr>
            <a:xfrm>
              <a:off x="6743700" y="2400300"/>
              <a:ext cx="685800" cy="68580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6743700" y="2400300"/>
              <a:ext cx="685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</a:t>
              </a:r>
              <a:endParaRPr lang="en-US" sz="20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245537-9EB1-C567-AAA4-76D127FFF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102CDB0-9851-1462-007F-DE17A9CE4A45}"/>
              </a:ext>
            </a:extLst>
          </p:cNvPr>
          <p:cNvSpPr txBox="1"/>
          <p:nvPr/>
        </p:nvSpPr>
        <p:spPr>
          <a:xfrm>
            <a:off x="441197" y="284490"/>
            <a:ext cx="10842153" cy="1315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4400" b="1" dirty="0">
              <a:solidFill>
                <a:srgbClr val="E8EDEE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buNone/>
            </a:pPr>
            <a:endParaRPr lang="en-US" sz="42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C8EAE772-2A1E-FC82-ECC8-6880C8AA348D}"/>
              </a:ext>
            </a:extLst>
          </p:cNvPr>
          <p:cNvSpPr txBox="1"/>
          <p:nvPr/>
        </p:nvSpPr>
        <p:spPr>
          <a:xfrm>
            <a:off x="-797686" y="624976"/>
            <a:ext cx="93550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dirty="0" err="1">
                <a:solidFill>
                  <a:srgbClr val="8A97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Acompanhe</a:t>
            </a:r>
            <a:r>
              <a:rPr lang="en-US" sz="4400" dirty="0">
                <a:solidFill>
                  <a:srgbClr val="8A97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site: </a:t>
            </a:r>
            <a:endParaRPr lang="en-US" sz="4400" dirty="0"/>
          </a:p>
        </p:txBody>
      </p:sp>
      <p:pic>
        <p:nvPicPr>
          <p:cNvPr id="34" name="Image 0" descr="/home/claude/qr.png">
            <a:extLst>
              <a:ext uri="{FF2B5EF4-FFF2-40B4-BE49-F238E27FC236}">
                <a16:creationId xmlns:a16="http://schemas.microsoft.com/office/drawing/2014/main" id="{E875AB3F-9313-6F66-DE7E-4A4776678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123" y="4033326"/>
            <a:ext cx="2321754" cy="2321754"/>
          </a:xfrm>
          <a:prstGeom prst="rect">
            <a:avLst/>
          </a:prstGeom>
        </p:spPr>
      </p:pic>
      <p:sp>
        <p:nvSpPr>
          <p:cNvPr id="37" name="Text 22">
            <a:extLst>
              <a:ext uri="{FF2B5EF4-FFF2-40B4-BE49-F238E27FC236}">
                <a16:creationId xmlns:a16="http://schemas.microsoft.com/office/drawing/2014/main" id="{C2212F43-E40B-BD0D-3A7A-160B1174FC70}"/>
              </a:ext>
            </a:extLst>
          </p:cNvPr>
          <p:cNvSpPr txBox="1"/>
          <p:nvPr/>
        </p:nvSpPr>
        <p:spPr>
          <a:xfrm>
            <a:off x="153198" y="1813492"/>
            <a:ext cx="11202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https://prodconsumer.web.app</a:t>
            </a:r>
            <a:endParaRPr lang="en-US" sz="48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531D23D1-8EB8-1D36-549C-69031D533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4904" y="3824698"/>
            <a:ext cx="1976774" cy="2667542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17C908B2-24A2-DF39-E9B3-57F8F68274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7841" y="3842730"/>
            <a:ext cx="2702946" cy="270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935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i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fazer agentes que trabalham em velocidades diferentes cooperarem — sem corromper dados e sem travar?</a:t>
            </a:r>
            <a:endParaRPr lang="en-US" sz="3400" dirty="0"/>
          </a:p>
        </p:txBody>
      </p:sp>
      <p:grpSp>
        <p:nvGrpSpPr>
          <p:cNvPr id="24" name="Diagrama 1"/>
          <p:cNvGrpSpPr/>
          <p:nvPr/>
        </p:nvGrpSpPr>
        <p:grpSpPr>
          <a:xfrm>
            <a:off x="1463040" y="4069080"/>
            <a:ext cx="9281160" cy="1325880"/>
            <a:chOff x="1463040" y="4069080"/>
            <a:chExt cx="9281160" cy="1325880"/>
          </a:xfrm>
        </p:grpSpPr>
        <p:sp>
          <p:nvSpPr>
            <p:cNvPr id="6" name="Shape 4"/>
            <p:cNvSpPr/>
            <p:nvPr/>
          </p:nvSpPr>
          <p:spPr>
            <a:xfrm>
              <a:off x="2194560" y="4069080"/>
              <a:ext cx="914400" cy="91440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2194560" y="4069080"/>
              <a:ext cx="91440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</a:t>
              </a:r>
              <a:endParaRPr lang="en-US" sz="2600" dirty="0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1463040" y="5074920"/>
              <a:ext cx="2377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produtor</a:t>
              </a:r>
              <a:endParaRPr lang="en-US" sz="11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00400" y="4526280"/>
              <a:ext cx="868680" cy="914"/>
            </a:xfrm>
            <a:prstGeom prst="line">
              <a:avLst/>
            </a:prstGeom>
            <a:noFill/>
            <a:ln w="22225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Shape 8"/>
            <p:cNvSpPr/>
            <p:nvPr/>
          </p:nvSpPr>
          <p:spPr>
            <a:xfrm>
              <a:off x="4206240" y="4206240"/>
              <a:ext cx="566928" cy="64008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9"/>
            <p:cNvSpPr/>
            <p:nvPr/>
          </p:nvSpPr>
          <p:spPr>
            <a:xfrm>
              <a:off x="4342303" y="4378879"/>
              <a:ext cx="294803" cy="294803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Shape 10"/>
            <p:cNvSpPr/>
            <p:nvPr/>
          </p:nvSpPr>
          <p:spPr>
            <a:xfrm>
              <a:off x="4864608" y="4206240"/>
              <a:ext cx="566928" cy="64008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11"/>
            <p:cNvSpPr/>
            <p:nvPr/>
          </p:nvSpPr>
          <p:spPr>
            <a:xfrm>
              <a:off x="5000671" y="4378879"/>
              <a:ext cx="294803" cy="294803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Shape 12"/>
            <p:cNvSpPr/>
            <p:nvPr/>
          </p:nvSpPr>
          <p:spPr>
            <a:xfrm>
              <a:off x="5522976" y="4206240"/>
              <a:ext cx="566928" cy="64008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Shape 13"/>
            <p:cNvSpPr/>
            <p:nvPr/>
          </p:nvSpPr>
          <p:spPr>
            <a:xfrm>
              <a:off x="5659039" y="4378879"/>
              <a:ext cx="294803" cy="294803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Shape 14"/>
            <p:cNvSpPr/>
            <p:nvPr/>
          </p:nvSpPr>
          <p:spPr>
            <a:xfrm>
              <a:off x="6181344" y="4206240"/>
              <a:ext cx="566928" cy="64008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15"/>
            <p:cNvSpPr/>
            <p:nvPr/>
          </p:nvSpPr>
          <p:spPr>
            <a:xfrm>
              <a:off x="6839712" y="4206240"/>
              <a:ext cx="566928" cy="64008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Shape 16"/>
            <p:cNvSpPr/>
            <p:nvPr/>
          </p:nvSpPr>
          <p:spPr>
            <a:xfrm>
              <a:off x="7498080" y="4206240"/>
              <a:ext cx="566928" cy="64008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4206240" y="4937760"/>
              <a:ext cx="385876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buffer · capacidade N</a:t>
              </a:r>
              <a:endParaRPr lang="en-US" sz="11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8138160" y="4526280"/>
              <a:ext cx="868680" cy="914"/>
            </a:xfrm>
            <a:prstGeom prst="line">
              <a:avLst/>
            </a:prstGeom>
            <a:noFill/>
            <a:ln w="22225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Shape 19"/>
            <p:cNvSpPr/>
            <p:nvPr/>
          </p:nvSpPr>
          <p:spPr>
            <a:xfrm>
              <a:off x="9098280" y="4069080"/>
              <a:ext cx="914400" cy="91440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9098280" y="4069080"/>
              <a:ext cx="91440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</a:t>
              </a:r>
              <a:endParaRPr lang="en-US" sz="2600" dirty="0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8366760" y="5074920"/>
              <a:ext cx="2377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consumidor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papéis, um contrato</a:t>
            </a:r>
            <a:endParaRPr lang="en-US" sz="3400" dirty="0"/>
          </a:p>
        </p:txBody>
      </p:sp>
      <p:grpSp>
        <p:nvGrpSpPr>
          <p:cNvPr id="26" name="Diagrama 1"/>
          <p:cNvGrpSpPr/>
          <p:nvPr/>
        </p:nvGrpSpPr>
        <p:grpSpPr>
          <a:xfrm>
            <a:off x="1668780" y="1897380"/>
            <a:ext cx="8823960" cy="868680"/>
            <a:chOff x="1668780" y="1897380"/>
            <a:chExt cx="8823960" cy="868680"/>
          </a:xfrm>
        </p:grpSpPr>
        <p:sp>
          <p:nvSpPr>
            <p:cNvPr id="6" name="Shape 4"/>
            <p:cNvSpPr/>
            <p:nvPr/>
          </p:nvSpPr>
          <p:spPr>
            <a:xfrm>
              <a:off x="1668780" y="1897380"/>
              <a:ext cx="868680" cy="86868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1668780" y="1897380"/>
              <a:ext cx="86868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5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</a:t>
              </a:r>
              <a:endParaRPr lang="en-US" sz="25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2606040" y="2331720"/>
              <a:ext cx="1600200" cy="914"/>
            </a:xfrm>
            <a:prstGeom prst="line">
              <a:avLst/>
            </a:prstGeom>
            <a:noFill/>
            <a:ln w="22225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Shape 7"/>
            <p:cNvSpPr/>
            <p:nvPr/>
          </p:nvSpPr>
          <p:spPr>
            <a:xfrm>
              <a:off x="4297680" y="2011680"/>
              <a:ext cx="640080" cy="64008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Shape 8"/>
            <p:cNvSpPr/>
            <p:nvPr/>
          </p:nvSpPr>
          <p:spPr>
            <a:xfrm>
              <a:off x="4451299" y="2165299"/>
              <a:ext cx="332842" cy="332842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9"/>
            <p:cNvSpPr/>
            <p:nvPr/>
          </p:nvSpPr>
          <p:spPr>
            <a:xfrm>
              <a:off x="5029200" y="2011680"/>
              <a:ext cx="640080" cy="64008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Shape 10"/>
            <p:cNvSpPr/>
            <p:nvPr/>
          </p:nvSpPr>
          <p:spPr>
            <a:xfrm>
              <a:off x="5182819" y="2165299"/>
              <a:ext cx="332842" cy="332842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11"/>
            <p:cNvSpPr/>
            <p:nvPr/>
          </p:nvSpPr>
          <p:spPr>
            <a:xfrm>
              <a:off x="5760720" y="2011680"/>
              <a:ext cx="640080" cy="64008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Shape 12"/>
            <p:cNvSpPr/>
            <p:nvPr/>
          </p:nvSpPr>
          <p:spPr>
            <a:xfrm>
              <a:off x="6492240" y="2011680"/>
              <a:ext cx="640080" cy="64008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Shape 13"/>
            <p:cNvSpPr/>
            <p:nvPr/>
          </p:nvSpPr>
          <p:spPr>
            <a:xfrm>
              <a:off x="7223760" y="2011680"/>
              <a:ext cx="640080" cy="64008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Shape 14"/>
            <p:cNvSpPr/>
            <p:nvPr/>
          </p:nvSpPr>
          <p:spPr>
            <a:xfrm>
              <a:off x="7955280" y="2331720"/>
              <a:ext cx="1600200" cy="914"/>
            </a:xfrm>
            <a:prstGeom prst="line">
              <a:avLst/>
            </a:prstGeom>
            <a:noFill/>
            <a:ln w="22225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15"/>
            <p:cNvSpPr/>
            <p:nvPr/>
          </p:nvSpPr>
          <p:spPr>
            <a:xfrm>
              <a:off x="9624060" y="1897380"/>
              <a:ext cx="868680" cy="86868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9624060" y="1897380"/>
              <a:ext cx="86868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5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</a:t>
              </a:r>
              <a:endParaRPr lang="en-US" sz="2500" dirty="0"/>
            </a:p>
          </p:txBody>
        </p:sp>
      </p:grpSp>
      <p:grpSp>
        <p:nvGrpSpPr>
          <p:cNvPr id="27" name="Diagrama 2"/>
          <p:cNvGrpSpPr/>
          <p:nvPr/>
        </p:nvGrpSpPr>
        <p:grpSpPr>
          <a:xfrm>
            <a:off x="548640" y="3337560"/>
            <a:ext cx="3291840" cy="1600200"/>
            <a:chOff x="548640" y="3337560"/>
            <a:chExt cx="3291840" cy="1600200"/>
          </a:xfrm>
        </p:grpSpPr>
        <p:sp>
          <p:nvSpPr>
            <p:cNvPr id="19" name="Text 17"/>
            <p:cNvSpPr txBox="1"/>
            <p:nvPr/>
          </p:nvSpPr>
          <p:spPr>
            <a:xfrm>
              <a:off x="548640" y="3337560"/>
              <a:ext cx="32918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21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Produtor</a:t>
              </a:r>
              <a:endParaRPr lang="en-US" sz="2100" dirty="0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548640" y="3840480"/>
              <a:ext cx="329184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rgbClr val="C3CCC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Gera itens e os deposita no buffer, no seu próprio ritmo.</a:t>
              </a:r>
              <a:endParaRPr lang="en-US" sz="1600" dirty="0"/>
            </a:p>
          </p:txBody>
        </p:sp>
      </p:grpSp>
      <p:grpSp>
        <p:nvGrpSpPr>
          <p:cNvPr id="28" name="Diagrama 3"/>
          <p:cNvGrpSpPr/>
          <p:nvPr/>
        </p:nvGrpSpPr>
        <p:grpSpPr>
          <a:xfrm>
            <a:off x="4343400" y="3337560"/>
            <a:ext cx="3291840" cy="1600200"/>
            <a:chOff x="4343400" y="3337560"/>
            <a:chExt cx="3291840" cy="1600200"/>
          </a:xfrm>
        </p:grpSpPr>
        <p:sp>
          <p:nvSpPr>
            <p:cNvPr id="21" name="Text 19"/>
            <p:cNvSpPr txBox="1"/>
            <p:nvPr/>
          </p:nvSpPr>
          <p:spPr>
            <a:xfrm>
              <a:off x="4343400" y="3337560"/>
              <a:ext cx="32918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21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Buffer de capacidade N</a:t>
              </a:r>
              <a:endParaRPr lang="en-US" sz="2100" dirty="0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4343400" y="3840480"/>
              <a:ext cx="329184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rgbClr val="C3CCC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Espaço intermediário e finito que absorve a diferença de ritmo entre os dois lados.</a:t>
              </a:r>
              <a:endParaRPr lang="en-US" sz="1600" dirty="0"/>
            </a:p>
          </p:txBody>
        </p:sp>
      </p:grpSp>
      <p:grpSp>
        <p:nvGrpSpPr>
          <p:cNvPr id="29" name="Diagrama 4"/>
          <p:cNvGrpSpPr/>
          <p:nvPr/>
        </p:nvGrpSpPr>
        <p:grpSpPr>
          <a:xfrm>
            <a:off x="8321040" y="3337560"/>
            <a:ext cx="3291840" cy="1600200"/>
            <a:chOff x="8321040" y="3337560"/>
            <a:chExt cx="3291840" cy="1600200"/>
          </a:xfrm>
        </p:grpSpPr>
        <p:sp>
          <p:nvSpPr>
            <p:cNvPr id="23" name="Text 21"/>
            <p:cNvSpPr txBox="1"/>
            <p:nvPr/>
          </p:nvSpPr>
          <p:spPr>
            <a:xfrm>
              <a:off x="8321040" y="3337560"/>
              <a:ext cx="32918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21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Consumidor</a:t>
              </a:r>
              <a:endParaRPr lang="en-US" sz="2100" dirty="0"/>
            </a:p>
          </p:txBody>
        </p:sp>
        <p:sp>
          <p:nvSpPr>
            <p:cNvPr id="24" name="Text 22"/>
            <p:cNvSpPr txBox="1"/>
            <p:nvPr/>
          </p:nvSpPr>
          <p:spPr>
            <a:xfrm>
              <a:off x="8321040" y="3840480"/>
              <a:ext cx="329184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rgbClr val="C3CCC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Retira itens do buffer e os processa, também no seu próprio ritmo.</a:t>
              </a:r>
              <a:endParaRPr lang="en-US" sz="1600" dirty="0"/>
            </a:p>
          </p:txBody>
        </p:sp>
      </p:grpSp>
      <p:sp>
        <p:nvSpPr>
          <p:cNvPr id="25" name="Text 23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esse intermediário, o mais rápido teria de esperar pelo mais lento a cada item trocado.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buffer finito tem três estados</a:t>
            </a:r>
            <a:endParaRPr lang="en-US" sz="3400" dirty="0"/>
          </a:p>
        </p:txBody>
      </p:sp>
      <p:grpSp>
        <p:nvGrpSpPr>
          <p:cNvPr id="54" name="Diagrama 1"/>
          <p:cNvGrpSpPr/>
          <p:nvPr/>
        </p:nvGrpSpPr>
        <p:grpSpPr>
          <a:xfrm>
            <a:off x="548640" y="1783080"/>
            <a:ext cx="11109960" cy="713232"/>
            <a:chOff x="548640" y="1783080"/>
            <a:chExt cx="11109960" cy="713232"/>
          </a:xfrm>
        </p:grpSpPr>
        <p:sp>
          <p:nvSpPr>
            <p:cNvPr id="6" name="Text 4"/>
            <p:cNvSpPr txBox="1"/>
            <p:nvPr/>
          </p:nvSpPr>
          <p:spPr>
            <a:xfrm>
              <a:off x="548640" y="1783080"/>
              <a:ext cx="21945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22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Vazio</a:t>
              </a:r>
              <a:endParaRPr lang="en-US" sz="2200" dirty="0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548640" y="2221992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0 / N</a:t>
              </a:r>
              <a:endParaRPr lang="en-US" sz="11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2926080" y="182880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Shape 7"/>
            <p:cNvSpPr/>
            <p:nvPr/>
          </p:nvSpPr>
          <p:spPr>
            <a:xfrm>
              <a:off x="3502152" y="182880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Shape 8"/>
            <p:cNvSpPr/>
            <p:nvPr/>
          </p:nvSpPr>
          <p:spPr>
            <a:xfrm>
              <a:off x="4078224" y="182880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9"/>
            <p:cNvSpPr/>
            <p:nvPr/>
          </p:nvSpPr>
          <p:spPr>
            <a:xfrm>
              <a:off x="4654296" y="182880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Shape 10"/>
            <p:cNvSpPr/>
            <p:nvPr/>
          </p:nvSpPr>
          <p:spPr>
            <a:xfrm>
              <a:off x="5230368" y="182880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11"/>
            <p:cNvSpPr/>
            <p:nvPr/>
          </p:nvSpPr>
          <p:spPr>
            <a:xfrm>
              <a:off x="5806440" y="182880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Shape 12"/>
            <p:cNvSpPr/>
            <p:nvPr/>
          </p:nvSpPr>
          <p:spPr>
            <a:xfrm>
              <a:off x="6382512" y="182880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Shape 13"/>
            <p:cNvSpPr/>
            <p:nvPr/>
          </p:nvSpPr>
          <p:spPr>
            <a:xfrm>
              <a:off x="6958584" y="182880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Shape 14"/>
            <p:cNvSpPr/>
            <p:nvPr/>
          </p:nvSpPr>
          <p:spPr>
            <a:xfrm>
              <a:off x="7818120" y="2039112"/>
              <a:ext cx="146304" cy="146304"/>
            </a:xfrm>
            <a:prstGeom prst="ellipse">
              <a:avLst/>
            </a:prstGeom>
            <a:solidFill>
              <a:srgbClr val="E3A33B"/>
            </a:solidFill>
            <a:ln w="127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8092440" y="1938528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700" dirty="0">
                  <a:solidFill>
                    <a:srgbClr val="E3A3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consumidor precisa esperar</a:t>
              </a:r>
              <a:endParaRPr lang="en-US" sz="1700" dirty="0"/>
            </a:p>
          </p:txBody>
        </p:sp>
      </p:grpSp>
      <p:grpSp>
        <p:nvGrpSpPr>
          <p:cNvPr id="55" name="Diagrama 2"/>
          <p:cNvGrpSpPr/>
          <p:nvPr/>
        </p:nvGrpSpPr>
        <p:grpSpPr>
          <a:xfrm>
            <a:off x="548640" y="2971800"/>
            <a:ext cx="11109960" cy="713232"/>
            <a:chOff x="548640" y="2971800"/>
            <a:chExt cx="11109960" cy="713232"/>
          </a:xfrm>
        </p:grpSpPr>
        <p:sp>
          <p:nvSpPr>
            <p:cNvPr id="18" name="Text 16"/>
            <p:cNvSpPr txBox="1"/>
            <p:nvPr/>
          </p:nvSpPr>
          <p:spPr>
            <a:xfrm>
              <a:off x="548640" y="2971800"/>
              <a:ext cx="21945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22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Parcial</a:t>
              </a:r>
              <a:endParaRPr lang="en-US" sz="2200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548640" y="3410712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3 / N</a:t>
              </a:r>
              <a:endParaRPr lang="en-US" sz="11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2926080" y="301752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Shape 19"/>
            <p:cNvSpPr/>
            <p:nvPr/>
          </p:nvSpPr>
          <p:spPr>
            <a:xfrm>
              <a:off x="3046781" y="3170225"/>
              <a:ext cx="261518" cy="26151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Shape 20"/>
            <p:cNvSpPr/>
            <p:nvPr/>
          </p:nvSpPr>
          <p:spPr>
            <a:xfrm>
              <a:off x="3502152" y="301752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Shape 21"/>
            <p:cNvSpPr/>
            <p:nvPr/>
          </p:nvSpPr>
          <p:spPr>
            <a:xfrm>
              <a:off x="3622853" y="3170225"/>
              <a:ext cx="261518" cy="26151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Shape 22"/>
            <p:cNvSpPr/>
            <p:nvPr/>
          </p:nvSpPr>
          <p:spPr>
            <a:xfrm>
              <a:off x="4078224" y="301752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Shape 23"/>
            <p:cNvSpPr/>
            <p:nvPr/>
          </p:nvSpPr>
          <p:spPr>
            <a:xfrm>
              <a:off x="4198925" y="3170225"/>
              <a:ext cx="261518" cy="26151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Shape 24"/>
            <p:cNvSpPr/>
            <p:nvPr/>
          </p:nvSpPr>
          <p:spPr>
            <a:xfrm>
              <a:off x="4654296" y="301752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Shape 25"/>
            <p:cNvSpPr/>
            <p:nvPr/>
          </p:nvSpPr>
          <p:spPr>
            <a:xfrm>
              <a:off x="5230368" y="301752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Shape 26"/>
            <p:cNvSpPr/>
            <p:nvPr/>
          </p:nvSpPr>
          <p:spPr>
            <a:xfrm>
              <a:off x="5806440" y="301752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Shape 27"/>
            <p:cNvSpPr/>
            <p:nvPr/>
          </p:nvSpPr>
          <p:spPr>
            <a:xfrm>
              <a:off x="6382512" y="301752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Shape 28"/>
            <p:cNvSpPr/>
            <p:nvPr/>
          </p:nvSpPr>
          <p:spPr>
            <a:xfrm>
              <a:off x="6958584" y="301752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Shape 29"/>
            <p:cNvSpPr/>
            <p:nvPr/>
          </p:nvSpPr>
          <p:spPr>
            <a:xfrm>
              <a:off x="7818120" y="3227832"/>
              <a:ext cx="146304" cy="146304"/>
            </a:xfrm>
            <a:prstGeom prst="ellipse">
              <a:avLst/>
            </a:prstGeom>
            <a:solidFill>
              <a:srgbClr val="6FBF8E"/>
            </a:solidFill>
            <a:ln w="12700">
              <a:solidFill>
                <a:srgbClr val="6FBF8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Text 30"/>
            <p:cNvSpPr txBox="1"/>
            <p:nvPr/>
          </p:nvSpPr>
          <p:spPr>
            <a:xfrm>
              <a:off x="8092440" y="3127248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700" dirty="0">
                  <a:solidFill>
                    <a:srgbClr val="6FBF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 dois lados podem avançar</a:t>
              </a:r>
              <a:endParaRPr lang="en-US" sz="1700" dirty="0"/>
            </a:p>
          </p:txBody>
        </p:sp>
      </p:grpSp>
      <p:grpSp>
        <p:nvGrpSpPr>
          <p:cNvPr id="56" name="Diagrama 3"/>
          <p:cNvGrpSpPr/>
          <p:nvPr/>
        </p:nvGrpSpPr>
        <p:grpSpPr>
          <a:xfrm>
            <a:off x="548640" y="4160520"/>
            <a:ext cx="11109960" cy="713232"/>
            <a:chOff x="548640" y="4160520"/>
            <a:chExt cx="11109960" cy="713232"/>
          </a:xfrm>
        </p:grpSpPr>
        <p:sp>
          <p:nvSpPr>
            <p:cNvPr id="33" name="Text 31"/>
            <p:cNvSpPr txBox="1"/>
            <p:nvPr/>
          </p:nvSpPr>
          <p:spPr>
            <a:xfrm>
              <a:off x="548640" y="4160520"/>
              <a:ext cx="21945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22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Cheio</a:t>
              </a:r>
              <a:endParaRPr lang="en-US" sz="2200" dirty="0"/>
            </a:p>
          </p:txBody>
        </p:sp>
        <p:sp>
          <p:nvSpPr>
            <p:cNvPr id="34" name="Text 32"/>
            <p:cNvSpPr txBox="1"/>
            <p:nvPr/>
          </p:nvSpPr>
          <p:spPr>
            <a:xfrm>
              <a:off x="548640" y="4599432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N / N</a:t>
              </a:r>
              <a:endParaRPr lang="en-US" sz="11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2926080" y="420624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Shape 34"/>
            <p:cNvSpPr/>
            <p:nvPr/>
          </p:nvSpPr>
          <p:spPr>
            <a:xfrm>
              <a:off x="3046781" y="4358945"/>
              <a:ext cx="261518" cy="26151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Shape 35"/>
            <p:cNvSpPr/>
            <p:nvPr/>
          </p:nvSpPr>
          <p:spPr>
            <a:xfrm>
              <a:off x="3502152" y="420624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Shape 36"/>
            <p:cNvSpPr/>
            <p:nvPr/>
          </p:nvSpPr>
          <p:spPr>
            <a:xfrm>
              <a:off x="3622853" y="4358945"/>
              <a:ext cx="261518" cy="26151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Shape 37"/>
            <p:cNvSpPr/>
            <p:nvPr/>
          </p:nvSpPr>
          <p:spPr>
            <a:xfrm>
              <a:off x="4078224" y="420624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Shape 38"/>
            <p:cNvSpPr/>
            <p:nvPr/>
          </p:nvSpPr>
          <p:spPr>
            <a:xfrm>
              <a:off x="4198925" y="4358945"/>
              <a:ext cx="261518" cy="26151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Shape 39"/>
            <p:cNvSpPr/>
            <p:nvPr/>
          </p:nvSpPr>
          <p:spPr>
            <a:xfrm>
              <a:off x="4654296" y="420624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Shape 40"/>
            <p:cNvSpPr/>
            <p:nvPr/>
          </p:nvSpPr>
          <p:spPr>
            <a:xfrm>
              <a:off x="4774997" y="4358945"/>
              <a:ext cx="261518" cy="26151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Shape 41"/>
            <p:cNvSpPr/>
            <p:nvPr/>
          </p:nvSpPr>
          <p:spPr>
            <a:xfrm>
              <a:off x="5230368" y="420624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Shape 42"/>
            <p:cNvSpPr/>
            <p:nvPr/>
          </p:nvSpPr>
          <p:spPr>
            <a:xfrm>
              <a:off x="5351069" y="4358945"/>
              <a:ext cx="261518" cy="26151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Shape 43"/>
            <p:cNvSpPr/>
            <p:nvPr/>
          </p:nvSpPr>
          <p:spPr>
            <a:xfrm>
              <a:off x="5806440" y="420624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Shape 44"/>
            <p:cNvSpPr/>
            <p:nvPr/>
          </p:nvSpPr>
          <p:spPr>
            <a:xfrm>
              <a:off x="5927141" y="4358945"/>
              <a:ext cx="261518" cy="26151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Shape 45"/>
            <p:cNvSpPr/>
            <p:nvPr/>
          </p:nvSpPr>
          <p:spPr>
            <a:xfrm>
              <a:off x="6382512" y="420624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Shape 46"/>
            <p:cNvSpPr/>
            <p:nvPr/>
          </p:nvSpPr>
          <p:spPr>
            <a:xfrm>
              <a:off x="6503213" y="4358945"/>
              <a:ext cx="261518" cy="26151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Shape 47"/>
            <p:cNvSpPr/>
            <p:nvPr/>
          </p:nvSpPr>
          <p:spPr>
            <a:xfrm>
              <a:off x="6958584" y="4206240"/>
              <a:ext cx="502920" cy="56692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Shape 48"/>
            <p:cNvSpPr/>
            <p:nvPr/>
          </p:nvSpPr>
          <p:spPr>
            <a:xfrm>
              <a:off x="7079285" y="4358945"/>
              <a:ext cx="261518" cy="26151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Shape 49"/>
            <p:cNvSpPr/>
            <p:nvPr/>
          </p:nvSpPr>
          <p:spPr>
            <a:xfrm>
              <a:off x="7818120" y="4416552"/>
              <a:ext cx="146304" cy="146304"/>
            </a:xfrm>
            <a:prstGeom prst="ellipse">
              <a:avLst/>
            </a:prstGeom>
            <a:solidFill>
              <a:srgbClr val="E3A33B"/>
            </a:solidFill>
            <a:ln w="127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Text 50"/>
            <p:cNvSpPr txBox="1"/>
            <p:nvPr/>
          </p:nvSpPr>
          <p:spPr>
            <a:xfrm>
              <a:off x="8092440" y="4315968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700" dirty="0">
                  <a:solidFill>
                    <a:srgbClr val="E3A3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produtor precisa esperar</a:t>
              </a:r>
              <a:endParaRPr lang="en-US" sz="1700" dirty="0"/>
            </a:p>
          </p:txBody>
        </p:sp>
      </p:grpSp>
      <p:sp>
        <p:nvSpPr>
          <p:cNvPr id="53" name="Text 51"/>
          <p:cNvSpPr txBox="1"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capacidade finita N que cria as duas condições de espera.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Produtor mais rápido: o buffer enche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produção supera o consumo, os itens se acumulam até ocupar todas as N posições.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defeito — é o comportamento normal de partes independentes. Mas, cheio o buffer, o produtor precisa esperar por espaço.</a:t>
            </a:r>
            <a:endParaRPr lang="en-US" sz="1700" dirty="0"/>
          </a:p>
        </p:txBody>
      </p:sp>
      <p:grpSp>
        <p:nvGrpSpPr>
          <p:cNvPr id="59" name="Diagrama 1"/>
          <p:cNvGrpSpPr/>
          <p:nvPr/>
        </p:nvGrpSpPr>
        <p:grpSpPr>
          <a:xfrm>
            <a:off x="4846320" y="1783080"/>
            <a:ext cx="5413248" cy="548640"/>
            <a:chOff x="4846320" y="1783080"/>
            <a:chExt cx="5413248" cy="548640"/>
          </a:xfrm>
        </p:grpSpPr>
        <p:sp>
          <p:nvSpPr>
            <p:cNvPr id="7" name="Text 5"/>
            <p:cNvSpPr txBox="1"/>
            <p:nvPr/>
          </p:nvSpPr>
          <p:spPr>
            <a:xfrm>
              <a:off x="4846320" y="192024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A58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t1</a:t>
              </a:r>
              <a:endParaRPr lang="en-US" sz="11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5394960" y="1783080"/>
              <a:ext cx="548640" cy="54864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5394960" y="178308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989320" y="2057400"/>
              <a:ext cx="457200" cy="914"/>
            </a:xfrm>
            <a:prstGeom prst="line">
              <a:avLst/>
            </a:prstGeom>
            <a:noFill/>
            <a:ln w="31750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9"/>
            <p:cNvSpPr/>
            <p:nvPr/>
          </p:nvSpPr>
          <p:spPr>
            <a:xfrm>
              <a:off x="6537960" y="182880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Shape 10"/>
            <p:cNvSpPr/>
            <p:nvPr/>
          </p:nvSpPr>
          <p:spPr>
            <a:xfrm>
              <a:off x="6636715" y="1950415"/>
              <a:ext cx="213970" cy="21397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11"/>
            <p:cNvSpPr/>
            <p:nvPr/>
          </p:nvSpPr>
          <p:spPr>
            <a:xfrm>
              <a:off x="7013448" y="182880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Shape 12"/>
            <p:cNvSpPr/>
            <p:nvPr/>
          </p:nvSpPr>
          <p:spPr>
            <a:xfrm>
              <a:off x="7112203" y="1950415"/>
              <a:ext cx="213970" cy="21397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Shape 13"/>
            <p:cNvSpPr/>
            <p:nvPr/>
          </p:nvSpPr>
          <p:spPr>
            <a:xfrm>
              <a:off x="7488936" y="182880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Shape 14"/>
            <p:cNvSpPr/>
            <p:nvPr/>
          </p:nvSpPr>
          <p:spPr>
            <a:xfrm>
              <a:off x="7964424" y="182880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15"/>
            <p:cNvSpPr/>
            <p:nvPr/>
          </p:nvSpPr>
          <p:spPr>
            <a:xfrm>
              <a:off x="8439912" y="182880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Shape 16"/>
            <p:cNvSpPr/>
            <p:nvPr/>
          </p:nvSpPr>
          <p:spPr>
            <a:xfrm>
              <a:off x="8915400" y="182880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Shape 17"/>
            <p:cNvSpPr/>
            <p:nvPr/>
          </p:nvSpPr>
          <p:spPr>
            <a:xfrm>
              <a:off x="9372600" y="2057400"/>
              <a:ext cx="292608" cy="914"/>
            </a:xfrm>
            <a:prstGeom prst="line">
              <a:avLst/>
            </a:prstGeom>
            <a:noFill/>
            <a:ln w="15875">
              <a:solidFill>
                <a:srgbClr val="4A585E"/>
              </a:solidFill>
              <a:prstDash val="dash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Shape 18"/>
            <p:cNvSpPr/>
            <p:nvPr/>
          </p:nvSpPr>
          <p:spPr>
            <a:xfrm>
              <a:off x="9710928" y="1783080"/>
              <a:ext cx="548640" cy="54864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9710928" y="178308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</a:t>
              </a:r>
              <a:endParaRPr lang="en-US" sz="1600" dirty="0"/>
            </a:p>
          </p:txBody>
        </p:sp>
      </p:grpSp>
      <p:grpSp>
        <p:nvGrpSpPr>
          <p:cNvPr id="60" name="Diagrama 2"/>
          <p:cNvGrpSpPr/>
          <p:nvPr/>
        </p:nvGrpSpPr>
        <p:grpSpPr>
          <a:xfrm>
            <a:off x="4846320" y="3017520"/>
            <a:ext cx="5413248" cy="548640"/>
            <a:chOff x="4846320" y="3017520"/>
            <a:chExt cx="5413248" cy="548640"/>
          </a:xfrm>
        </p:grpSpPr>
        <p:sp>
          <p:nvSpPr>
            <p:cNvPr id="22" name="Text 20"/>
            <p:cNvSpPr txBox="1"/>
            <p:nvPr/>
          </p:nvSpPr>
          <p:spPr>
            <a:xfrm>
              <a:off x="4846320" y="315468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A58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t2</a:t>
              </a:r>
              <a:endParaRPr lang="en-US" sz="11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394960" y="3017520"/>
              <a:ext cx="548640" cy="54864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 22"/>
            <p:cNvSpPr txBox="1"/>
            <p:nvPr/>
          </p:nvSpPr>
          <p:spPr>
            <a:xfrm>
              <a:off x="5394960" y="301752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</a:t>
              </a:r>
              <a:endParaRPr lang="en-US" sz="16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989320" y="3291840"/>
              <a:ext cx="457200" cy="914"/>
            </a:xfrm>
            <a:prstGeom prst="line">
              <a:avLst/>
            </a:prstGeom>
            <a:noFill/>
            <a:ln w="31750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Shape 24"/>
            <p:cNvSpPr/>
            <p:nvPr/>
          </p:nvSpPr>
          <p:spPr>
            <a:xfrm>
              <a:off x="6537960" y="306324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Shape 25"/>
            <p:cNvSpPr/>
            <p:nvPr/>
          </p:nvSpPr>
          <p:spPr>
            <a:xfrm>
              <a:off x="6636715" y="3184855"/>
              <a:ext cx="213970" cy="21397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Shape 26"/>
            <p:cNvSpPr/>
            <p:nvPr/>
          </p:nvSpPr>
          <p:spPr>
            <a:xfrm>
              <a:off x="7013448" y="306324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Shape 27"/>
            <p:cNvSpPr/>
            <p:nvPr/>
          </p:nvSpPr>
          <p:spPr>
            <a:xfrm>
              <a:off x="7112203" y="3184855"/>
              <a:ext cx="213970" cy="21397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Shape 28"/>
            <p:cNvSpPr/>
            <p:nvPr/>
          </p:nvSpPr>
          <p:spPr>
            <a:xfrm>
              <a:off x="7488936" y="306324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Shape 29"/>
            <p:cNvSpPr/>
            <p:nvPr/>
          </p:nvSpPr>
          <p:spPr>
            <a:xfrm>
              <a:off x="7587691" y="3184855"/>
              <a:ext cx="213970" cy="21397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Shape 30"/>
            <p:cNvSpPr/>
            <p:nvPr/>
          </p:nvSpPr>
          <p:spPr>
            <a:xfrm>
              <a:off x="7964424" y="306324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Shape 31"/>
            <p:cNvSpPr/>
            <p:nvPr/>
          </p:nvSpPr>
          <p:spPr>
            <a:xfrm>
              <a:off x="8063179" y="3184855"/>
              <a:ext cx="213970" cy="21397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Shape 32"/>
            <p:cNvSpPr/>
            <p:nvPr/>
          </p:nvSpPr>
          <p:spPr>
            <a:xfrm>
              <a:off x="8439912" y="306324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Shape 33"/>
            <p:cNvSpPr/>
            <p:nvPr/>
          </p:nvSpPr>
          <p:spPr>
            <a:xfrm>
              <a:off x="8915400" y="306324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Shape 34"/>
            <p:cNvSpPr/>
            <p:nvPr/>
          </p:nvSpPr>
          <p:spPr>
            <a:xfrm>
              <a:off x="9372600" y="3291840"/>
              <a:ext cx="292608" cy="914"/>
            </a:xfrm>
            <a:prstGeom prst="line">
              <a:avLst/>
            </a:prstGeom>
            <a:noFill/>
            <a:ln w="15875">
              <a:solidFill>
                <a:srgbClr val="4A585E"/>
              </a:solidFill>
              <a:prstDash val="dash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Shape 35"/>
            <p:cNvSpPr/>
            <p:nvPr/>
          </p:nvSpPr>
          <p:spPr>
            <a:xfrm>
              <a:off x="9710928" y="3017520"/>
              <a:ext cx="548640" cy="54864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Text 36"/>
            <p:cNvSpPr txBox="1"/>
            <p:nvPr/>
          </p:nvSpPr>
          <p:spPr>
            <a:xfrm>
              <a:off x="9710928" y="301752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</a:t>
              </a:r>
              <a:endParaRPr lang="en-US" sz="1600" dirty="0"/>
            </a:p>
          </p:txBody>
        </p:sp>
      </p:grpSp>
      <p:grpSp>
        <p:nvGrpSpPr>
          <p:cNvPr id="61" name="Diagrama 3"/>
          <p:cNvGrpSpPr/>
          <p:nvPr/>
        </p:nvGrpSpPr>
        <p:grpSpPr>
          <a:xfrm>
            <a:off x="4846320" y="4251960"/>
            <a:ext cx="5413248" cy="886968"/>
            <a:chOff x="4846320" y="4251960"/>
            <a:chExt cx="5413248" cy="886968"/>
          </a:xfrm>
        </p:grpSpPr>
        <p:sp>
          <p:nvSpPr>
            <p:cNvPr id="39" name="Text 37"/>
            <p:cNvSpPr txBox="1"/>
            <p:nvPr/>
          </p:nvSpPr>
          <p:spPr>
            <a:xfrm>
              <a:off x="4846320" y="438912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A58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t3</a:t>
              </a:r>
              <a:endParaRPr lang="en-US" sz="11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5394960" y="4251960"/>
              <a:ext cx="548640" cy="54864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Text 39"/>
            <p:cNvSpPr txBox="1"/>
            <p:nvPr/>
          </p:nvSpPr>
          <p:spPr>
            <a:xfrm>
              <a:off x="5394960" y="425196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E3A3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</a:t>
              </a:r>
              <a:endParaRPr lang="en-US" sz="16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5989320" y="4526280"/>
              <a:ext cx="457200" cy="914"/>
            </a:xfrm>
            <a:prstGeom prst="line">
              <a:avLst/>
            </a:prstGeom>
            <a:noFill/>
            <a:ln w="31750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Shape 41"/>
            <p:cNvSpPr/>
            <p:nvPr/>
          </p:nvSpPr>
          <p:spPr>
            <a:xfrm>
              <a:off x="6537960" y="429768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Shape 42"/>
            <p:cNvSpPr/>
            <p:nvPr/>
          </p:nvSpPr>
          <p:spPr>
            <a:xfrm>
              <a:off x="6636715" y="4419295"/>
              <a:ext cx="213970" cy="21397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Shape 43"/>
            <p:cNvSpPr/>
            <p:nvPr/>
          </p:nvSpPr>
          <p:spPr>
            <a:xfrm>
              <a:off x="7013448" y="429768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Shape 44"/>
            <p:cNvSpPr/>
            <p:nvPr/>
          </p:nvSpPr>
          <p:spPr>
            <a:xfrm>
              <a:off x="7112203" y="4419295"/>
              <a:ext cx="213970" cy="21397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Shape 45"/>
            <p:cNvSpPr/>
            <p:nvPr/>
          </p:nvSpPr>
          <p:spPr>
            <a:xfrm>
              <a:off x="7488936" y="429768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Shape 46"/>
            <p:cNvSpPr/>
            <p:nvPr/>
          </p:nvSpPr>
          <p:spPr>
            <a:xfrm>
              <a:off x="7587691" y="4419295"/>
              <a:ext cx="213970" cy="21397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Shape 47"/>
            <p:cNvSpPr/>
            <p:nvPr/>
          </p:nvSpPr>
          <p:spPr>
            <a:xfrm>
              <a:off x="7964424" y="429768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Shape 48"/>
            <p:cNvSpPr/>
            <p:nvPr/>
          </p:nvSpPr>
          <p:spPr>
            <a:xfrm>
              <a:off x="8063179" y="4419295"/>
              <a:ext cx="213970" cy="21397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Shape 49"/>
            <p:cNvSpPr/>
            <p:nvPr/>
          </p:nvSpPr>
          <p:spPr>
            <a:xfrm>
              <a:off x="8439912" y="429768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Shape 50"/>
            <p:cNvSpPr/>
            <p:nvPr/>
          </p:nvSpPr>
          <p:spPr>
            <a:xfrm>
              <a:off x="8538667" y="4419295"/>
              <a:ext cx="213970" cy="21397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Shape 51"/>
            <p:cNvSpPr/>
            <p:nvPr/>
          </p:nvSpPr>
          <p:spPr>
            <a:xfrm>
              <a:off x="8915400" y="429768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" name="Shape 52"/>
            <p:cNvSpPr/>
            <p:nvPr/>
          </p:nvSpPr>
          <p:spPr>
            <a:xfrm>
              <a:off x="9014155" y="4419295"/>
              <a:ext cx="213970" cy="21397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Shape 53"/>
            <p:cNvSpPr/>
            <p:nvPr/>
          </p:nvSpPr>
          <p:spPr>
            <a:xfrm>
              <a:off x="9372600" y="4526280"/>
              <a:ext cx="292608" cy="914"/>
            </a:xfrm>
            <a:prstGeom prst="line">
              <a:avLst/>
            </a:prstGeom>
            <a:noFill/>
            <a:ln w="15875">
              <a:solidFill>
                <a:srgbClr val="4A585E"/>
              </a:solidFill>
              <a:prstDash val="dash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Shape 54"/>
            <p:cNvSpPr/>
            <p:nvPr/>
          </p:nvSpPr>
          <p:spPr>
            <a:xfrm>
              <a:off x="9710928" y="4251960"/>
              <a:ext cx="548640" cy="54864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Text 55"/>
            <p:cNvSpPr txBox="1"/>
            <p:nvPr/>
          </p:nvSpPr>
          <p:spPr>
            <a:xfrm>
              <a:off x="9710928" y="425196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</a:t>
              </a:r>
              <a:endParaRPr lang="en-US" sz="1600" dirty="0"/>
            </a:p>
          </p:txBody>
        </p:sp>
        <p:sp>
          <p:nvSpPr>
            <p:cNvPr id="58" name="Text 56"/>
            <p:cNvSpPr txBox="1"/>
            <p:nvPr/>
          </p:nvSpPr>
          <p:spPr>
            <a:xfrm>
              <a:off x="4846320" y="4864608"/>
              <a:ext cx="3383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produtor aguarda espaço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Consumidor mais rápido: o buffer esvazia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consumo supera a produção, o consumidor chega ao buffer e não encontra itens.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precisa esperar por dados — e não pode, em hipótese alguma, ler uma posição vazia como se fosse um item válido.</a:t>
            </a:r>
            <a:endParaRPr lang="en-US" sz="1700" dirty="0"/>
          </a:p>
        </p:txBody>
      </p:sp>
      <p:grpSp>
        <p:nvGrpSpPr>
          <p:cNvPr id="53" name="Diagrama 1"/>
          <p:cNvGrpSpPr/>
          <p:nvPr/>
        </p:nvGrpSpPr>
        <p:grpSpPr>
          <a:xfrm>
            <a:off x="4846320" y="1783080"/>
            <a:ext cx="5413248" cy="548640"/>
            <a:chOff x="4846320" y="1783080"/>
            <a:chExt cx="5413248" cy="548640"/>
          </a:xfrm>
        </p:grpSpPr>
        <p:sp>
          <p:nvSpPr>
            <p:cNvPr id="7" name="Text 5"/>
            <p:cNvSpPr txBox="1"/>
            <p:nvPr/>
          </p:nvSpPr>
          <p:spPr>
            <a:xfrm>
              <a:off x="4846320" y="192024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A58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t1</a:t>
              </a:r>
              <a:endParaRPr lang="en-US" sz="11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5394960" y="1783080"/>
              <a:ext cx="548640" cy="54864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5394960" y="178308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989320" y="2057400"/>
              <a:ext cx="457200" cy="914"/>
            </a:xfrm>
            <a:prstGeom prst="line">
              <a:avLst/>
            </a:prstGeom>
            <a:noFill/>
            <a:ln w="15875">
              <a:solidFill>
                <a:srgbClr val="4A585E"/>
              </a:solidFill>
              <a:prstDash val="dash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9"/>
            <p:cNvSpPr/>
            <p:nvPr/>
          </p:nvSpPr>
          <p:spPr>
            <a:xfrm>
              <a:off x="6537960" y="182880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Shape 10"/>
            <p:cNvSpPr/>
            <p:nvPr/>
          </p:nvSpPr>
          <p:spPr>
            <a:xfrm>
              <a:off x="6636715" y="1950415"/>
              <a:ext cx="213970" cy="21397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11"/>
            <p:cNvSpPr/>
            <p:nvPr/>
          </p:nvSpPr>
          <p:spPr>
            <a:xfrm>
              <a:off x="7013448" y="182880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Shape 12"/>
            <p:cNvSpPr/>
            <p:nvPr/>
          </p:nvSpPr>
          <p:spPr>
            <a:xfrm>
              <a:off x="7112203" y="1950415"/>
              <a:ext cx="213970" cy="21397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Shape 13"/>
            <p:cNvSpPr/>
            <p:nvPr/>
          </p:nvSpPr>
          <p:spPr>
            <a:xfrm>
              <a:off x="7488936" y="182880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Shape 14"/>
            <p:cNvSpPr/>
            <p:nvPr/>
          </p:nvSpPr>
          <p:spPr>
            <a:xfrm>
              <a:off x="7587691" y="1950415"/>
              <a:ext cx="213970" cy="21397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15"/>
            <p:cNvSpPr/>
            <p:nvPr/>
          </p:nvSpPr>
          <p:spPr>
            <a:xfrm>
              <a:off x="7964424" y="182880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Shape 16"/>
            <p:cNvSpPr/>
            <p:nvPr/>
          </p:nvSpPr>
          <p:spPr>
            <a:xfrm>
              <a:off x="8063179" y="1950415"/>
              <a:ext cx="213970" cy="21397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Shape 17"/>
            <p:cNvSpPr/>
            <p:nvPr/>
          </p:nvSpPr>
          <p:spPr>
            <a:xfrm>
              <a:off x="8439912" y="182880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Shape 18"/>
            <p:cNvSpPr/>
            <p:nvPr/>
          </p:nvSpPr>
          <p:spPr>
            <a:xfrm>
              <a:off x="8915400" y="182880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Shape 19"/>
            <p:cNvSpPr/>
            <p:nvPr/>
          </p:nvSpPr>
          <p:spPr>
            <a:xfrm>
              <a:off x="9372600" y="2057400"/>
              <a:ext cx="292608" cy="914"/>
            </a:xfrm>
            <a:prstGeom prst="line">
              <a:avLst/>
            </a:prstGeom>
            <a:noFill/>
            <a:ln w="31750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Shape 20"/>
            <p:cNvSpPr/>
            <p:nvPr/>
          </p:nvSpPr>
          <p:spPr>
            <a:xfrm>
              <a:off x="9710928" y="1783080"/>
              <a:ext cx="548640" cy="54864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9710928" y="178308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</a:t>
              </a:r>
              <a:endParaRPr lang="en-US" sz="1600" dirty="0"/>
            </a:p>
          </p:txBody>
        </p:sp>
      </p:grpSp>
      <p:grpSp>
        <p:nvGrpSpPr>
          <p:cNvPr id="54" name="Diagrama 2"/>
          <p:cNvGrpSpPr/>
          <p:nvPr/>
        </p:nvGrpSpPr>
        <p:grpSpPr>
          <a:xfrm>
            <a:off x="4846320" y="3017520"/>
            <a:ext cx="5413248" cy="548640"/>
            <a:chOff x="4846320" y="3017520"/>
            <a:chExt cx="5413248" cy="548640"/>
          </a:xfrm>
        </p:grpSpPr>
        <p:sp>
          <p:nvSpPr>
            <p:cNvPr id="24" name="Text 22"/>
            <p:cNvSpPr txBox="1"/>
            <p:nvPr/>
          </p:nvSpPr>
          <p:spPr>
            <a:xfrm>
              <a:off x="4846320" y="315468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A58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t2</a:t>
              </a:r>
              <a:endParaRPr lang="en-US" sz="11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394960" y="3017520"/>
              <a:ext cx="548640" cy="54864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Text 24"/>
            <p:cNvSpPr txBox="1"/>
            <p:nvPr/>
          </p:nvSpPr>
          <p:spPr>
            <a:xfrm>
              <a:off x="5394960" y="301752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</a:t>
              </a:r>
              <a:endParaRPr lang="en-US" sz="16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5989320" y="3291840"/>
              <a:ext cx="457200" cy="914"/>
            </a:xfrm>
            <a:prstGeom prst="line">
              <a:avLst/>
            </a:prstGeom>
            <a:noFill/>
            <a:ln w="15875">
              <a:solidFill>
                <a:srgbClr val="4A585E"/>
              </a:solidFill>
              <a:prstDash val="dash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Shape 26"/>
            <p:cNvSpPr/>
            <p:nvPr/>
          </p:nvSpPr>
          <p:spPr>
            <a:xfrm>
              <a:off x="6537960" y="306324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Shape 27"/>
            <p:cNvSpPr/>
            <p:nvPr/>
          </p:nvSpPr>
          <p:spPr>
            <a:xfrm>
              <a:off x="6636715" y="3184855"/>
              <a:ext cx="213970" cy="21397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Shape 28"/>
            <p:cNvSpPr/>
            <p:nvPr/>
          </p:nvSpPr>
          <p:spPr>
            <a:xfrm>
              <a:off x="7013448" y="306324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Shape 29"/>
            <p:cNvSpPr/>
            <p:nvPr/>
          </p:nvSpPr>
          <p:spPr>
            <a:xfrm>
              <a:off x="7112203" y="3184855"/>
              <a:ext cx="213970" cy="21397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Shape 30"/>
            <p:cNvSpPr/>
            <p:nvPr/>
          </p:nvSpPr>
          <p:spPr>
            <a:xfrm>
              <a:off x="7488936" y="306324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Shape 31"/>
            <p:cNvSpPr/>
            <p:nvPr/>
          </p:nvSpPr>
          <p:spPr>
            <a:xfrm>
              <a:off x="7964424" y="306324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Shape 32"/>
            <p:cNvSpPr/>
            <p:nvPr/>
          </p:nvSpPr>
          <p:spPr>
            <a:xfrm>
              <a:off x="8439912" y="306324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Shape 33"/>
            <p:cNvSpPr/>
            <p:nvPr/>
          </p:nvSpPr>
          <p:spPr>
            <a:xfrm>
              <a:off x="8915400" y="306324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Shape 34"/>
            <p:cNvSpPr/>
            <p:nvPr/>
          </p:nvSpPr>
          <p:spPr>
            <a:xfrm>
              <a:off x="9372600" y="3291840"/>
              <a:ext cx="292608" cy="914"/>
            </a:xfrm>
            <a:prstGeom prst="line">
              <a:avLst/>
            </a:prstGeom>
            <a:noFill/>
            <a:ln w="31750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Shape 35"/>
            <p:cNvSpPr/>
            <p:nvPr/>
          </p:nvSpPr>
          <p:spPr>
            <a:xfrm>
              <a:off x="9710928" y="3017520"/>
              <a:ext cx="548640" cy="54864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Text 36"/>
            <p:cNvSpPr txBox="1"/>
            <p:nvPr/>
          </p:nvSpPr>
          <p:spPr>
            <a:xfrm>
              <a:off x="9710928" y="301752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</a:t>
              </a:r>
              <a:endParaRPr lang="en-US" sz="1600" dirty="0"/>
            </a:p>
          </p:txBody>
        </p:sp>
      </p:grpSp>
      <p:grpSp>
        <p:nvGrpSpPr>
          <p:cNvPr id="55" name="Diagrama 3"/>
          <p:cNvGrpSpPr/>
          <p:nvPr/>
        </p:nvGrpSpPr>
        <p:grpSpPr>
          <a:xfrm>
            <a:off x="4846320" y="4251960"/>
            <a:ext cx="6766560" cy="886968"/>
            <a:chOff x="4846320" y="4251960"/>
            <a:chExt cx="6766560" cy="886968"/>
          </a:xfrm>
        </p:grpSpPr>
        <p:sp>
          <p:nvSpPr>
            <p:cNvPr id="39" name="Text 37"/>
            <p:cNvSpPr txBox="1"/>
            <p:nvPr/>
          </p:nvSpPr>
          <p:spPr>
            <a:xfrm>
              <a:off x="4846320" y="438912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A58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t3</a:t>
              </a:r>
              <a:endParaRPr lang="en-US" sz="11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5394960" y="4251960"/>
              <a:ext cx="548640" cy="54864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Text 39"/>
            <p:cNvSpPr txBox="1"/>
            <p:nvPr/>
          </p:nvSpPr>
          <p:spPr>
            <a:xfrm>
              <a:off x="5394960" y="425196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</a:t>
              </a:r>
              <a:endParaRPr lang="en-US" sz="16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5989320" y="4526280"/>
              <a:ext cx="457200" cy="914"/>
            </a:xfrm>
            <a:prstGeom prst="line">
              <a:avLst/>
            </a:prstGeom>
            <a:noFill/>
            <a:ln w="15875">
              <a:solidFill>
                <a:srgbClr val="4A585E"/>
              </a:solidFill>
              <a:prstDash val="dash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Shape 41"/>
            <p:cNvSpPr/>
            <p:nvPr/>
          </p:nvSpPr>
          <p:spPr>
            <a:xfrm>
              <a:off x="6537960" y="429768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Shape 42"/>
            <p:cNvSpPr/>
            <p:nvPr/>
          </p:nvSpPr>
          <p:spPr>
            <a:xfrm>
              <a:off x="7013448" y="429768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Shape 43"/>
            <p:cNvSpPr/>
            <p:nvPr/>
          </p:nvSpPr>
          <p:spPr>
            <a:xfrm>
              <a:off x="7488936" y="429768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Shape 44"/>
            <p:cNvSpPr/>
            <p:nvPr/>
          </p:nvSpPr>
          <p:spPr>
            <a:xfrm>
              <a:off x="7964424" y="429768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Shape 45"/>
            <p:cNvSpPr/>
            <p:nvPr/>
          </p:nvSpPr>
          <p:spPr>
            <a:xfrm>
              <a:off x="8439912" y="429768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Shape 46"/>
            <p:cNvSpPr/>
            <p:nvPr/>
          </p:nvSpPr>
          <p:spPr>
            <a:xfrm>
              <a:off x="8915400" y="4297680"/>
              <a:ext cx="41148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Shape 47"/>
            <p:cNvSpPr/>
            <p:nvPr/>
          </p:nvSpPr>
          <p:spPr>
            <a:xfrm>
              <a:off x="9372600" y="4526280"/>
              <a:ext cx="292608" cy="914"/>
            </a:xfrm>
            <a:prstGeom prst="line">
              <a:avLst/>
            </a:prstGeom>
            <a:noFill/>
            <a:ln w="31750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Shape 48"/>
            <p:cNvSpPr/>
            <p:nvPr/>
          </p:nvSpPr>
          <p:spPr>
            <a:xfrm>
              <a:off x="9710928" y="4251960"/>
              <a:ext cx="548640" cy="54864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Text 49"/>
            <p:cNvSpPr txBox="1"/>
            <p:nvPr/>
          </p:nvSpPr>
          <p:spPr>
            <a:xfrm>
              <a:off x="9710928" y="425196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E3A3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</a:t>
              </a:r>
              <a:endParaRPr lang="en-US" sz="1600" dirty="0"/>
            </a:p>
          </p:txBody>
        </p:sp>
        <p:sp>
          <p:nvSpPr>
            <p:cNvPr id="52" name="Text 50"/>
            <p:cNvSpPr txBox="1"/>
            <p:nvPr/>
          </p:nvSpPr>
          <p:spPr>
            <a:xfrm>
              <a:off x="8229600" y="4864608"/>
              <a:ext cx="3383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consumidor aguarda item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verdadeiro desafio é a sincronização</a:t>
            </a:r>
            <a:endParaRPr lang="en-US" sz="3400" dirty="0"/>
          </a:p>
        </p:txBody>
      </p:sp>
      <p:grpSp>
        <p:nvGrpSpPr>
          <p:cNvPr id="31" name="Diagrama 1"/>
          <p:cNvGrpSpPr/>
          <p:nvPr/>
        </p:nvGrpSpPr>
        <p:grpSpPr>
          <a:xfrm>
            <a:off x="548640" y="1783080"/>
            <a:ext cx="6903720" cy="2103120"/>
            <a:chOff x="548640" y="1783080"/>
            <a:chExt cx="6903720" cy="2103120"/>
          </a:xfrm>
        </p:grpSpPr>
        <p:sp>
          <p:nvSpPr>
            <p:cNvPr id="6" name="Text 4"/>
            <p:cNvSpPr txBox="1"/>
            <p:nvPr/>
          </p:nvSpPr>
          <p:spPr>
            <a:xfrm>
              <a:off x="548640" y="178308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ritmo do produtor</a:t>
              </a:r>
              <a:endParaRPr lang="en-US" sz="1100" dirty="0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548640" y="324612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ritmo do consumidor</a:t>
              </a:r>
              <a:endParaRPr lang="en-US" sz="11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640080" y="2240280"/>
              <a:ext cx="182880" cy="18288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Shape 7"/>
            <p:cNvSpPr/>
            <p:nvPr/>
          </p:nvSpPr>
          <p:spPr>
            <a:xfrm>
              <a:off x="1143000" y="2240280"/>
              <a:ext cx="182880" cy="18288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Shape 8"/>
            <p:cNvSpPr/>
            <p:nvPr/>
          </p:nvSpPr>
          <p:spPr>
            <a:xfrm>
              <a:off x="1645920" y="2240280"/>
              <a:ext cx="182880" cy="18288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9"/>
            <p:cNvSpPr/>
            <p:nvPr/>
          </p:nvSpPr>
          <p:spPr>
            <a:xfrm>
              <a:off x="2148840" y="2240280"/>
              <a:ext cx="182880" cy="18288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Shape 10"/>
            <p:cNvSpPr/>
            <p:nvPr/>
          </p:nvSpPr>
          <p:spPr>
            <a:xfrm>
              <a:off x="2651760" y="2240280"/>
              <a:ext cx="182880" cy="18288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11"/>
            <p:cNvSpPr/>
            <p:nvPr/>
          </p:nvSpPr>
          <p:spPr>
            <a:xfrm>
              <a:off x="3154680" y="2240280"/>
              <a:ext cx="182880" cy="18288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Shape 12"/>
            <p:cNvSpPr/>
            <p:nvPr/>
          </p:nvSpPr>
          <p:spPr>
            <a:xfrm>
              <a:off x="3657600" y="2240280"/>
              <a:ext cx="182880" cy="18288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Shape 13"/>
            <p:cNvSpPr/>
            <p:nvPr/>
          </p:nvSpPr>
          <p:spPr>
            <a:xfrm>
              <a:off x="4160520" y="2240280"/>
              <a:ext cx="182880" cy="18288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Shape 14"/>
            <p:cNvSpPr/>
            <p:nvPr/>
          </p:nvSpPr>
          <p:spPr>
            <a:xfrm>
              <a:off x="4663440" y="2240280"/>
              <a:ext cx="182880" cy="18288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15"/>
            <p:cNvSpPr/>
            <p:nvPr/>
          </p:nvSpPr>
          <p:spPr>
            <a:xfrm>
              <a:off x="640080" y="3703320"/>
              <a:ext cx="182880" cy="18288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Shape 16"/>
            <p:cNvSpPr/>
            <p:nvPr/>
          </p:nvSpPr>
          <p:spPr>
            <a:xfrm>
              <a:off x="1600200" y="3703320"/>
              <a:ext cx="182880" cy="18288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Shape 17"/>
            <p:cNvSpPr/>
            <p:nvPr/>
          </p:nvSpPr>
          <p:spPr>
            <a:xfrm>
              <a:off x="2560320" y="3703320"/>
              <a:ext cx="182880" cy="18288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Shape 18"/>
            <p:cNvSpPr/>
            <p:nvPr/>
          </p:nvSpPr>
          <p:spPr>
            <a:xfrm>
              <a:off x="3520440" y="3703320"/>
              <a:ext cx="182880" cy="18288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Shape 19"/>
            <p:cNvSpPr/>
            <p:nvPr/>
          </p:nvSpPr>
          <p:spPr>
            <a:xfrm>
              <a:off x="4480560" y="3703320"/>
              <a:ext cx="182880" cy="18288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Shape 20"/>
            <p:cNvSpPr/>
            <p:nvPr/>
          </p:nvSpPr>
          <p:spPr>
            <a:xfrm>
              <a:off x="4937760" y="2331720"/>
              <a:ext cx="685800" cy="594360"/>
            </a:xfrm>
            <a:prstGeom prst="line">
              <a:avLst/>
            </a:prstGeom>
            <a:noFill/>
            <a:ln w="22225">
              <a:solidFill>
                <a:srgbClr val="8A979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Shape 21"/>
            <p:cNvSpPr/>
            <p:nvPr/>
          </p:nvSpPr>
          <p:spPr>
            <a:xfrm flipV="1">
              <a:off x="4937760" y="3200400"/>
              <a:ext cx="685800" cy="594360"/>
            </a:xfrm>
            <a:prstGeom prst="line">
              <a:avLst/>
            </a:prstGeom>
            <a:noFill/>
            <a:ln w="22225">
              <a:solidFill>
                <a:srgbClr val="8A979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Shape 22"/>
            <p:cNvSpPr/>
            <p:nvPr/>
          </p:nvSpPr>
          <p:spPr>
            <a:xfrm>
              <a:off x="5715000" y="2898648"/>
              <a:ext cx="1737360" cy="347472"/>
            </a:xfrm>
            <a:prstGeom prst="roundRect">
              <a:avLst>
                <a:gd name="adj" fmla="val 15789"/>
              </a:avLst>
            </a:prstGeom>
            <a:solidFill>
              <a:srgbClr val="070B0D"/>
            </a:solidFill>
            <a:ln w="15875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5715000" y="2898648"/>
              <a:ext cx="17373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coordenação</a:t>
              </a:r>
              <a:endParaRPr lang="en-US" sz="1200" dirty="0"/>
            </a:p>
          </p:txBody>
        </p:sp>
      </p:grpSp>
      <p:grpSp>
        <p:nvGrpSpPr>
          <p:cNvPr id="32" name="Diagrama 2"/>
          <p:cNvGrpSpPr/>
          <p:nvPr/>
        </p:nvGrpSpPr>
        <p:grpSpPr>
          <a:xfrm>
            <a:off x="8046720" y="1920240"/>
            <a:ext cx="3657600" cy="2103120"/>
            <a:chOff x="8046720" y="1920240"/>
            <a:chExt cx="3657600" cy="2103120"/>
          </a:xfrm>
        </p:grpSpPr>
        <p:sp>
          <p:nvSpPr>
            <p:cNvPr id="26" name="Text 24"/>
            <p:cNvSpPr txBox="1"/>
            <p:nvPr/>
          </p:nvSpPr>
          <p:spPr>
            <a:xfrm>
              <a:off x="8046720" y="192024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20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 · Exclusão mútua</a:t>
              </a:r>
              <a:endParaRPr lang="en-US" sz="2000" dirty="0"/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8046720" y="233172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700" dirty="0">
                  <a:solidFill>
                    <a:srgbClr val="C3CCC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Quem pode tocar no buffer agora?</a:t>
              </a:r>
              <a:endParaRPr lang="en-US" sz="1700" dirty="0"/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8046720" y="315468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20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 · Disponibilidade</a:t>
              </a:r>
              <a:endParaRPr lang="en-US" sz="2000" dirty="0"/>
            </a:p>
          </p:txBody>
        </p:sp>
        <p:sp>
          <p:nvSpPr>
            <p:cNvPr id="29" name="Text 27"/>
            <p:cNvSpPr txBox="1"/>
            <p:nvPr/>
          </p:nvSpPr>
          <p:spPr>
            <a:xfrm>
              <a:off x="8046720" y="356616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700" dirty="0">
                  <a:solidFill>
                    <a:srgbClr val="C3CCC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Quando cada participante pode avançar?</a:t>
              </a:r>
              <a:endParaRPr lang="en-US" sz="1700" dirty="0"/>
            </a:p>
          </p:txBody>
        </p:sp>
      </p:grpSp>
      <p:sp>
        <p:nvSpPr>
          <p:cNvPr id="30" name="Text 28"/>
          <p:cNvSpPr txBox="1"/>
          <p:nvPr/>
        </p:nvSpPr>
        <p:spPr>
          <a:xfrm>
            <a:off x="548640" y="5074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i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Esperar sem travar o sistema, sem gastar CPU em espera ocupada e sem ler dado inválido — esse é o problema inteiro.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FRAGILIDADE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tradicional: memória compartilhada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 e Java, o buffer é uma estrutura na memória compartilhada. Várias threads a acessam ao mesmo tempo.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 ao programador arbitrar cada acesso com primitivas manuais de sincronização.</a:t>
            </a:r>
            <a:endParaRPr lang="en-US" sz="2000" dirty="0"/>
          </a:p>
        </p:txBody>
      </p:sp>
      <p:grpSp>
        <p:nvGrpSpPr>
          <p:cNvPr id="26" name="Diagrama 1"/>
          <p:cNvGrpSpPr/>
          <p:nvPr/>
        </p:nvGrpSpPr>
        <p:grpSpPr>
          <a:xfrm>
            <a:off x="5669280" y="2011680"/>
            <a:ext cx="5760720" cy="2834640"/>
            <a:chOff x="5669280" y="2011680"/>
            <a:chExt cx="5760720" cy="2834640"/>
          </a:xfrm>
        </p:grpSpPr>
        <p:sp>
          <p:nvSpPr>
            <p:cNvPr id="7" name="Shape 5"/>
            <p:cNvSpPr/>
            <p:nvPr/>
          </p:nvSpPr>
          <p:spPr>
            <a:xfrm>
              <a:off x="6949440" y="2011680"/>
              <a:ext cx="4480560" cy="283464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7178040" y="214884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memória compartilhada</a:t>
              </a:r>
              <a:endParaRPr lang="en-US" sz="11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7178040" y="2606040"/>
              <a:ext cx="502920" cy="50292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Shape 8"/>
            <p:cNvSpPr/>
            <p:nvPr/>
          </p:nvSpPr>
          <p:spPr>
            <a:xfrm>
              <a:off x="7298741" y="2726741"/>
              <a:ext cx="261518" cy="26151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9"/>
            <p:cNvSpPr/>
            <p:nvPr/>
          </p:nvSpPr>
          <p:spPr>
            <a:xfrm>
              <a:off x="7754112" y="2606040"/>
              <a:ext cx="502920" cy="50292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Shape 10"/>
            <p:cNvSpPr/>
            <p:nvPr/>
          </p:nvSpPr>
          <p:spPr>
            <a:xfrm>
              <a:off x="7874813" y="2726741"/>
              <a:ext cx="261518" cy="26151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11"/>
            <p:cNvSpPr/>
            <p:nvPr/>
          </p:nvSpPr>
          <p:spPr>
            <a:xfrm>
              <a:off x="8330184" y="2606040"/>
              <a:ext cx="502920" cy="50292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Shape 12"/>
            <p:cNvSpPr/>
            <p:nvPr/>
          </p:nvSpPr>
          <p:spPr>
            <a:xfrm>
              <a:off x="8450885" y="2726741"/>
              <a:ext cx="261518" cy="26151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Shape 13"/>
            <p:cNvSpPr/>
            <p:nvPr/>
          </p:nvSpPr>
          <p:spPr>
            <a:xfrm>
              <a:off x="8906256" y="2606040"/>
              <a:ext cx="502920" cy="50292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Shape 14"/>
            <p:cNvSpPr/>
            <p:nvPr/>
          </p:nvSpPr>
          <p:spPr>
            <a:xfrm>
              <a:off x="9482328" y="2606040"/>
              <a:ext cx="502920" cy="50292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15"/>
            <p:cNvSpPr/>
            <p:nvPr/>
          </p:nvSpPr>
          <p:spPr>
            <a:xfrm>
              <a:off x="10058400" y="2606040"/>
              <a:ext cx="502920" cy="50292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7178040" y="3429000"/>
              <a:ext cx="39319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5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count = 3</a:t>
              </a:r>
              <a:endParaRPr lang="en-US" sz="1500" dirty="0"/>
            </a:p>
            <a:p>
              <a:pPr marL="0" indent="0">
                <a:spcAft>
                  <a:spcPts val="600"/>
                </a:spcAft>
                <a:buNone/>
              </a:pPr>
              <a:r>
                <a:rPr lang="en-US" sz="15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in = 3   out = 0</a:t>
              </a:r>
              <a:endParaRPr lang="en-US" sz="1500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7178040" y="4343400"/>
              <a:ext cx="4023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estado lido e escrito por todos</a:t>
              </a:r>
              <a:endParaRPr lang="en-US" sz="11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5669280" y="2331720"/>
              <a:ext cx="640080" cy="64008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5669280" y="233172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T1</a:t>
              </a:r>
              <a:endParaRPr lang="en-US" sz="15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5669280" y="3886200"/>
              <a:ext cx="640080" cy="64008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5669280" y="388620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T2</a:t>
              </a:r>
              <a:endParaRPr lang="en-US" sz="15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6327648" y="2697480"/>
              <a:ext cx="576072" cy="228600"/>
            </a:xfrm>
            <a:prstGeom prst="line">
              <a:avLst/>
            </a:prstGeom>
            <a:noFill/>
            <a:ln w="22225">
              <a:solidFill>
                <a:srgbClr val="E3A33B"/>
              </a:solidFill>
              <a:prstDash val="solid"/>
              <a:headEnd type="triangle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Shape 23"/>
            <p:cNvSpPr/>
            <p:nvPr/>
          </p:nvSpPr>
          <p:spPr>
            <a:xfrm flipV="1">
              <a:off x="6327648" y="3931920"/>
              <a:ext cx="576072" cy="228600"/>
            </a:xfrm>
            <a:prstGeom prst="line">
              <a:avLst/>
            </a:prstGeom>
            <a:noFill/>
            <a:ln w="22225">
              <a:solidFill>
                <a:srgbClr val="E3A33B"/>
              </a:solidFill>
              <a:prstDash val="solid"/>
              <a:headEnd type="triangle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FRAGILIDADE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 condition: count++ não é uma operação única</a:t>
            </a:r>
            <a:endParaRPr lang="en-US" sz="3400" dirty="0"/>
          </a:p>
        </p:txBody>
      </p:sp>
      <p:grpSp>
        <p:nvGrpSpPr>
          <p:cNvPr id="22" name="Diagrama 1"/>
          <p:cNvGrpSpPr/>
          <p:nvPr/>
        </p:nvGrpSpPr>
        <p:grpSpPr>
          <a:xfrm>
            <a:off x="457200" y="2248957"/>
            <a:ext cx="10927080" cy="914400"/>
            <a:chOff x="548640" y="1874520"/>
            <a:chExt cx="10927080" cy="914400"/>
          </a:xfrm>
        </p:grpSpPr>
        <p:sp>
          <p:nvSpPr>
            <p:cNvPr id="6" name="Text 4"/>
            <p:cNvSpPr txBox="1"/>
            <p:nvPr/>
          </p:nvSpPr>
          <p:spPr>
            <a:xfrm>
              <a:off x="548640" y="1965960"/>
              <a:ext cx="237744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count++</a:t>
              </a:r>
              <a:endParaRPr lang="en-US" sz="3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2834640" y="2331720"/>
              <a:ext cx="457200" cy="914"/>
            </a:xfrm>
            <a:prstGeom prst="line">
              <a:avLst/>
            </a:prstGeom>
            <a:noFill/>
            <a:ln w="22225">
              <a:solidFill>
                <a:srgbClr val="8A979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Shape 6"/>
            <p:cNvSpPr/>
            <p:nvPr/>
          </p:nvSpPr>
          <p:spPr>
            <a:xfrm>
              <a:off x="3429000" y="1874520"/>
              <a:ext cx="2468880" cy="91440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3611880" y="196596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9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 · ler</a:t>
              </a:r>
              <a:endParaRPr lang="en-US" sz="19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3611880" y="2377440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count → registrador</a:t>
              </a:r>
              <a:endParaRPr lang="en-US" sz="11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916168" y="2331720"/>
              <a:ext cx="283464" cy="914"/>
            </a:xfrm>
            <a:prstGeom prst="line">
              <a:avLst/>
            </a:prstGeom>
            <a:noFill/>
            <a:ln w="22225">
              <a:solidFill>
                <a:srgbClr val="8A979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Shape 10"/>
            <p:cNvSpPr/>
            <p:nvPr/>
          </p:nvSpPr>
          <p:spPr>
            <a:xfrm>
              <a:off x="6217920" y="1874520"/>
              <a:ext cx="2468880" cy="91440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6400800" y="196596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9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 · somar</a:t>
              </a:r>
              <a:endParaRPr lang="en-US" sz="190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6400800" y="2377440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registrador + 1</a:t>
              </a:r>
              <a:endParaRPr lang="en-US" sz="11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8705088" y="2331720"/>
              <a:ext cx="283464" cy="914"/>
            </a:xfrm>
            <a:prstGeom prst="line">
              <a:avLst/>
            </a:prstGeom>
            <a:noFill/>
            <a:ln w="22225">
              <a:solidFill>
                <a:srgbClr val="8A979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Shape 14"/>
            <p:cNvSpPr/>
            <p:nvPr/>
          </p:nvSpPr>
          <p:spPr>
            <a:xfrm>
              <a:off x="9006840" y="1874520"/>
              <a:ext cx="2468880" cy="91440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9189720" y="196596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9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 · escrever</a:t>
              </a:r>
              <a:endParaRPr lang="en-US" sz="190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9189720" y="2377440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registrador → count</a:t>
              </a:r>
              <a:endParaRPr lang="en-US" sz="1100" dirty="0"/>
            </a:p>
          </p:txBody>
        </p:sp>
      </p:grpSp>
      <p:sp>
        <p:nvSpPr>
          <p:cNvPr id="19" name="Text 17"/>
          <p:cNvSpPr txBox="1"/>
          <p:nvPr/>
        </p:nvSpPr>
        <p:spPr>
          <a:xfrm>
            <a:off x="457200" y="4388207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produtor executa count++ enquanto o consumidor executa count--. Se esses passos se intercalam sem proteção, uma escrita sobrescreve a outra.</a:t>
            </a:r>
            <a:endParaRPr lang="en-US" sz="1800" dirty="0"/>
          </a:p>
        </p:txBody>
      </p:sp>
      <p:grpSp>
        <p:nvGrpSpPr>
          <p:cNvPr id="23" name="Diagrama 2"/>
          <p:cNvGrpSpPr/>
          <p:nvPr/>
        </p:nvGrpSpPr>
        <p:grpSpPr>
          <a:xfrm>
            <a:off x="7589520" y="4195673"/>
            <a:ext cx="4023360" cy="1253677"/>
            <a:chOff x="7589520" y="4195673"/>
            <a:chExt cx="4023360" cy="1253677"/>
          </a:xfrm>
        </p:grpSpPr>
        <p:sp>
          <p:nvSpPr>
            <p:cNvPr id="20" name="Shape 18"/>
            <p:cNvSpPr/>
            <p:nvPr/>
          </p:nvSpPr>
          <p:spPr>
            <a:xfrm>
              <a:off x="7589520" y="4195673"/>
              <a:ext cx="4023360" cy="1097280"/>
            </a:xfrm>
            <a:prstGeom prst="rect">
              <a:avLst/>
            </a:prstGeom>
            <a:solidFill>
              <a:srgbClr val="070B0D"/>
            </a:solidFill>
            <a:ln w="19050">
              <a:solidFill>
                <a:srgbClr val="E0564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7772400" y="4352070"/>
              <a:ext cx="36576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rgbClr val="E8ED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resultado depende da ordem de execução — e o programa continua rodando como se nada tivesse acontecido.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FRAGILIDADE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intercalação perigosa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23774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A97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PASSO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A97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PRODUTOR · count++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A97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CONSUMIDOR · count--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A97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 NA MEMÓRIA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FC8D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E8ED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lê count → reg = 5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A58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E8ED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FC8D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A58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E8ED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lê count → reg = 5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E8ED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FC8D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E8ED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 + 1, escreve 6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A58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E8ED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FC8D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A58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E8ED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 − 1, escreve 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E0564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572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Esperado: </a:t>
            </a:r>
            <a:r>
              <a:rPr lang="en-US" sz="1900" b="1" dirty="0">
                <a:solidFill>
                  <a:srgbClr val="E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= 5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90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Obtido: </a:t>
            </a:r>
            <a:r>
              <a:rPr lang="en-US" sz="1900" b="1" dirty="0">
                <a:solidFill>
                  <a:srgbClr val="E05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= 4 — </a:t>
            </a:r>
            <a:r>
              <a:rPr lang="en-US" sz="1900" dirty="0">
                <a:solidFill>
                  <a:srgbClr val="E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o buffer contém 5 itens.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FRAGILIDADE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Deadlock: ninguém consegue progredir</a:t>
            </a:r>
            <a:endParaRPr lang="en-US" sz="3400" dirty="0"/>
          </a:p>
        </p:txBody>
      </p:sp>
      <p:grpSp>
        <p:nvGrpSpPr>
          <p:cNvPr id="18" name="Diagrama 1"/>
          <p:cNvGrpSpPr/>
          <p:nvPr/>
        </p:nvGrpSpPr>
        <p:grpSpPr>
          <a:xfrm>
            <a:off x="2103120" y="2331720"/>
            <a:ext cx="7955280" cy="1691640"/>
            <a:chOff x="2103120" y="2331720"/>
            <a:chExt cx="7955280" cy="1691640"/>
          </a:xfrm>
        </p:grpSpPr>
        <p:sp>
          <p:nvSpPr>
            <p:cNvPr id="6" name="Shape 4"/>
            <p:cNvSpPr/>
            <p:nvPr/>
          </p:nvSpPr>
          <p:spPr>
            <a:xfrm>
              <a:off x="2743200" y="2514600"/>
              <a:ext cx="1097280" cy="109728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2743200" y="2514600"/>
              <a:ext cx="109728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100" b="1" dirty="0">
                  <a:solidFill>
                    <a:srgbClr val="E3A3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</a:t>
              </a:r>
              <a:endParaRPr lang="en-US" sz="3100" dirty="0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2103120" y="3703320"/>
              <a:ext cx="2377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produtor</a:t>
              </a:r>
              <a:endParaRPr lang="en-US" sz="11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8321040" y="2514600"/>
              <a:ext cx="1097280" cy="109728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8321040" y="2514600"/>
              <a:ext cx="109728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100" b="1" dirty="0">
                  <a:solidFill>
                    <a:srgbClr val="E3A3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</a:t>
              </a:r>
              <a:endParaRPr lang="en-US" sz="31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7680960" y="3703320"/>
              <a:ext cx="2377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consumidor</a:t>
              </a:r>
              <a:endParaRPr lang="en-US" sz="11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931920" y="2743200"/>
              <a:ext cx="4297680" cy="914"/>
            </a:xfrm>
            <a:prstGeom prst="line">
              <a:avLst/>
            </a:prstGeom>
            <a:noFill/>
            <a:ln w="22225">
              <a:solidFill>
                <a:srgbClr val="E3A33B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11"/>
            <p:cNvSpPr/>
            <p:nvPr/>
          </p:nvSpPr>
          <p:spPr>
            <a:xfrm flipH="1">
              <a:off x="3931920" y="3383280"/>
              <a:ext cx="4297680" cy="914"/>
            </a:xfrm>
            <a:prstGeom prst="line">
              <a:avLst/>
            </a:prstGeom>
            <a:noFill/>
            <a:ln w="22225">
              <a:solidFill>
                <a:srgbClr val="E3A33B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3931920" y="2331720"/>
              <a:ext cx="4297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espera algo que só o consumidor pode liberar</a:t>
              </a:r>
              <a:endParaRPr lang="en-US" sz="1100" dirty="0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3931920" y="3520440"/>
              <a:ext cx="4297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espera algo que só o produtor pode liberar</a:t>
              </a:r>
              <a:endParaRPr lang="en-US" sz="1100" dirty="0"/>
            </a:p>
          </p:txBody>
        </p:sp>
      </p:grpSp>
      <p:sp>
        <p:nvSpPr>
          <p:cNvPr id="16" name="Text 14"/>
          <p:cNvSpPr txBox="1"/>
          <p:nvPr/>
        </p:nvSpPr>
        <p:spPr>
          <a:xfrm>
            <a:off x="548640" y="4526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não é simples espera: é a impossibilidade de progresso. Cada participante aguarda uma condição que nunca será satisfeita.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i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erro é emitido. O programa simplesmente para, em silêncio.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FRAGILIDADE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sinal perdido</a:t>
            </a:r>
            <a:endParaRPr lang="en-US" sz="3400" dirty="0"/>
          </a:p>
        </p:txBody>
      </p:sp>
      <p:grpSp>
        <p:nvGrpSpPr>
          <p:cNvPr id="28" name="Diagrama 1"/>
          <p:cNvGrpSpPr/>
          <p:nvPr/>
        </p:nvGrpSpPr>
        <p:grpSpPr>
          <a:xfrm>
            <a:off x="548640" y="1737360"/>
            <a:ext cx="6537960" cy="3840480"/>
            <a:chOff x="548640" y="1737360"/>
            <a:chExt cx="6537960" cy="3840480"/>
          </a:xfrm>
        </p:grpSpPr>
        <p:sp>
          <p:nvSpPr>
            <p:cNvPr id="6" name="Shape 4"/>
            <p:cNvSpPr/>
            <p:nvPr/>
          </p:nvSpPr>
          <p:spPr>
            <a:xfrm>
              <a:off x="548640" y="1737360"/>
              <a:ext cx="457200" cy="457200"/>
            </a:xfrm>
            <a:prstGeom prst="ellipse">
              <a:avLst/>
            </a:prstGeom>
            <a:solidFill>
              <a:srgbClr val="070B0D"/>
            </a:solidFill>
            <a:ln w="19050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548640" y="173736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777240" y="2212848"/>
              <a:ext cx="914" cy="310896"/>
            </a:xfrm>
            <a:prstGeom prst="line">
              <a:avLst/>
            </a:prstGeom>
            <a:noFill/>
            <a:ln w="22225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1234440" y="1810512"/>
              <a:ext cx="5852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rgbClr val="E8ED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consumidor lê count == 0 e decide dormir.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48640" y="2542032"/>
              <a:ext cx="457200" cy="457200"/>
            </a:xfrm>
            <a:prstGeom prst="ellipse">
              <a:avLst/>
            </a:prstGeom>
            <a:solidFill>
              <a:srgbClr val="070B0D"/>
            </a:solidFill>
            <a:ln w="19050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548640" y="2542032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777240" y="3017520"/>
              <a:ext cx="914" cy="310896"/>
            </a:xfrm>
            <a:prstGeom prst="line">
              <a:avLst/>
            </a:prstGeom>
            <a:noFill/>
            <a:ln w="22225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1234440" y="2615184"/>
              <a:ext cx="5852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rgbClr val="E8ED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escalonador troca para o produtor — antes que o consumidor durma.</a:t>
              </a:r>
              <a:endParaRPr lang="en-US" sz="16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48640" y="3346704"/>
              <a:ext cx="457200" cy="457200"/>
            </a:xfrm>
            <a:prstGeom prst="ellipse">
              <a:avLst/>
            </a:prstGeom>
            <a:solidFill>
              <a:srgbClr val="070B0D"/>
            </a:solidFill>
            <a:ln w="19050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548640" y="3346704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777240" y="3822192"/>
              <a:ext cx="914" cy="310896"/>
            </a:xfrm>
            <a:prstGeom prst="line">
              <a:avLst/>
            </a:prstGeom>
            <a:noFill/>
            <a:ln w="22225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1234440" y="3419856"/>
              <a:ext cx="5852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rgbClr val="E8ED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produtor insere um item: count passa a 1.</a:t>
              </a:r>
              <a:endParaRPr lang="en-US" sz="16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48640" y="4151376"/>
              <a:ext cx="457200" cy="457200"/>
            </a:xfrm>
            <a:prstGeom prst="ellipse">
              <a:avLst/>
            </a:prstGeom>
            <a:solidFill>
              <a:srgbClr val="070B0D"/>
            </a:solidFill>
            <a:ln w="19050">
              <a:solidFill>
                <a:srgbClr val="E0564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548640" y="4151376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E0564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777240" y="4626864"/>
              <a:ext cx="914" cy="310896"/>
            </a:xfrm>
            <a:prstGeom prst="line">
              <a:avLst/>
            </a:prstGeom>
            <a:noFill/>
            <a:ln w="22225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1234440" y="4224528"/>
              <a:ext cx="5852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rgbClr val="E056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produtor envia wakeup, mas o consumidor ainda não dorme: o sinal se perde.</a:t>
              </a:r>
              <a:endParaRPr lang="en-US" sz="16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548640" y="4956048"/>
              <a:ext cx="457200" cy="457200"/>
            </a:xfrm>
            <a:prstGeom prst="ellipse">
              <a:avLst/>
            </a:prstGeom>
            <a:solidFill>
              <a:srgbClr val="070B0D"/>
            </a:solidFill>
            <a:ln w="1905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548640" y="495604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5</a:t>
              </a:r>
              <a:endParaRPr lang="en-US" sz="1400" dirty="0"/>
            </a:p>
          </p:txBody>
        </p:sp>
        <p:sp>
          <p:nvSpPr>
            <p:cNvPr id="24" name="Text 22"/>
            <p:cNvSpPr txBox="1"/>
            <p:nvPr/>
          </p:nvSpPr>
          <p:spPr>
            <a:xfrm>
              <a:off x="1234440" y="5029200"/>
              <a:ext cx="5852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rgbClr val="E3A3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consumidor dorme. O produtor enche o buffer e dorme também.</a:t>
              </a:r>
              <a:endParaRPr lang="en-US" sz="1600" dirty="0"/>
            </a:p>
          </p:txBody>
        </p:sp>
      </p:grpSp>
      <p:grpSp>
        <p:nvGrpSpPr>
          <p:cNvPr id="29" name="Diagrama 2"/>
          <p:cNvGrpSpPr/>
          <p:nvPr/>
        </p:nvGrpSpPr>
        <p:grpSpPr>
          <a:xfrm>
            <a:off x="7589520" y="1737360"/>
            <a:ext cx="4023360" cy="3611880"/>
            <a:chOff x="7589520" y="1737360"/>
            <a:chExt cx="4023360" cy="3611880"/>
          </a:xfrm>
        </p:grpSpPr>
        <p:sp>
          <p:nvSpPr>
            <p:cNvPr id="25" name="Shape 23"/>
            <p:cNvSpPr/>
            <p:nvPr/>
          </p:nvSpPr>
          <p:spPr>
            <a:xfrm>
              <a:off x="7589520" y="1737360"/>
              <a:ext cx="4023360" cy="361188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Text 24"/>
            <p:cNvSpPr txBox="1"/>
            <p:nvPr/>
          </p:nvSpPr>
          <p:spPr>
            <a:xfrm>
              <a:off x="7818120" y="1920240"/>
              <a:ext cx="36576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20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Por que falha?</a:t>
              </a:r>
              <a:endParaRPr lang="en-US" sz="2000" dirty="0"/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7818120" y="2423160"/>
              <a:ext cx="3611880" cy="2743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500" dirty="0">
                  <a:solidFill>
                    <a:srgbClr val="C3CCC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sleep e wakeup não guardam sinais: um wakeup enviado a quem ainda não dorme simplesmente desaparece.</a:t>
              </a:r>
              <a:endParaRPr lang="en-US" sz="1500" dirty="0"/>
            </a:p>
            <a:p>
              <a:pPr marL="0" indent="0">
                <a:spcAft>
                  <a:spcPts val="600"/>
                </a:spcAft>
                <a:buNone/>
              </a:pPr>
              <a:endParaRPr lang="en-US" sz="1500" dirty="0"/>
            </a:p>
            <a:p>
              <a:pPr marL="0" indent="0">
                <a:spcAft>
                  <a:spcPts val="600"/>
                </a:spcAft>
                <a:buNone/>
              </a:pPr>
              <a:r>
                <a:rPr lang="en-US" sz="1500" dirty="0">
                  <a:solidFill>
                    <a:srgbClr val="C3CCC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semáforo nasce para resolver isso — ele armazena os sinais como um contador, para uso futuro.</a:t>
              </a:r>
              <a:endParaRPr lang="en-US" sz="15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FRAGILIDADE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29317" y="6363706"/>
            <a:ext cx="5325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 clássica: primitivas explícitas</a:t>
            </a:r>
            <a:endParaRPr lang="en-US" sz="3400" dirty="0"/>
          </a:p>
        </p:txBody>
      </p:sp>
      <p:grpSp>
        <p:nvGrpSpPr>
          <p:cNvPr id="30" name="Diagrama 1"/>
          <p:cNvGrpSpPr/>
          <p:nvPr/>
        </p:nvGrpSpPr>
        <p:grpSpPr>
          <a:xfrm>
            <a:off x="-45720" y="2286000"/>
            <a:ext cx="11420856" cy="2971800"/>
            <a:chOff x="-45720" y="2286000"/>
            <a:chExt cx="11420856" cy="2971800"/>
          </a:xfrm>
        </p:grpSpPr>
        <p:sp>
          <p:nvSpPr>
            <p:cNvPr id="6" name="Shape 4"/>
            <p:cNvSpPr/>
            <p:nvPr/>
          </p:nvSpPr>
          <p:spPr>
            <a:xfrm>
              <a:off x="777240" y="2651760"/>
              <a:ext cx="731520" cy="73152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777240" y="2651760"/>
              <a:ext cx="7315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</a:t>
              </a:r>
              <a:endParaRPr lang="en-US" sz="2100" dirty="0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-45720" y="3474720"/>
              <a:ext cx="2377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thread</a:t>
              </a:r>
              <a:endParaRPr lang="en-US" sz="11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017520" y="2286000"/>
              <a:ext cx="201168" cy="1463040"/>
            </a:xfrm>
            <a:prstGeom prst="rect">
              <a:avLst/>
            </a:prstGeom>
            <a:solidFill>
              <a:srgbClr val="E3A33B"/>
            </a:solidFill>
            <a:ln w="127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2194560" y="3931920"/>
              <a:ext cx="21031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600"/>
                </a:spcAft>
                <a:buNone/>
              </a:pPr>
              <a:r>
                <a:rPr lang="en-US" sz="18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semáforo</a:t>
              </a:r>
              <a:endParaRPr lang="en-US" sz="18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2148840" y="4343400"/>
              <a:ext cx="21945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600"/>
                </a:spcAft>
                <a:buNone/>
              </a:pPr>
              <a:r>
                <a:rPr lang="en-US" sz="1300" dirty="0">
                  <a:solidFill>
                    <a:srgbClr val="8A979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conta recursos: espaços livres e itens disponíveis</a:t>
              </a:r>
              <a:endParaRPr lang="en-US" sz="13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532120" y="2286000"/>
              <a:ext cx="201168" cy="1463040"/>
            </a:xfrm>
            <a:prstGeom prst="rect">
              <a:avLst/>
            </a:prstGeom>
            <a:solidFill>
              <a:srgbClr val="E3A33B"/>
            </a:solidFill>
            <a:ln w="127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4709160" y="3931920"/>
              <a:ext cx="21031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600"/>
                </a:spcAft>
                <a:buNone/>
              </a:pPr>
              <a:r>
                <a:rPr lang="en-US" sz="18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mutex</a:t>
              </a:r>
              <a:endParaRPr lang="en-US" sz="180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4663440" y="4343400"/>
              <a:ext cx="21945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600"/>
                </a:spcAft>
                <a:buNone/>
              </a:pPr>
              <a:r>
                <a:rPr lang="en-US" sz="1300" dirty="0">
                  <a:solidFill>
                    <a:srgbClr val="8A979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garante exclusão mútua na região crítica</a:t>
              </a:r>
              <a:endParaRPr lang="en-US" sz="13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8046720" y="2286000"/>
              <a:ext cx="201168" cy="1463040"/>
            </a:xfrm>
            <a:prstGeom prst="rect">
              <a:avLst/>
            </a:prstGeom>
            <a:solidFill>
              <a:srgbClr val="E3A33B"/>
            </a:solidFill>
            <a:ln w="127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7223760" y="3931920"/>
              <a:ext cx="21031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600"/>
                </a:spcAft>
                <a:buNone/>
              </a:pPr>
              <a:r>
                <a:rPr lang="en-US" sz="18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variável de condição</a:t>
              </a:r>
              <a:endParaRPr lang="en-US" sz="180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7178040" y="4343400"/>
              <a:ext cx="21945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600"/>
                </a:spcAft>
                <a:buNone/>
              </a:pPr>
              <a:r>
                <a:rPr lang="en-US" sz="1300" dirty="0">
                  <a:solidFill>
                    <a:srgbClr val="8A979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espera por uma condição e sinaliza quando ela muda</a:t>
              </a:r>
              <a:endParaRPr lang="en-US" sz="13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1554480" y="3017520"/>
              <a:ext cx="1417320" cy="914"/>
            </a:xfrm>
            <a:prstGeom prst="line">
              <a:avLst/>
            </a:prstGeom>
            <a:noFill/>
            <a:ln w="2222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Shape 17"/>
            <p:cNvSpPr/>
            <p:nvPr/>
          </p:nvSpPr>
          <p:spPr>
            <a:xfrm>
              <a:off x="3246120" y="3017520"/>
              <a:ext cx="2240280" cy="914"/>
            </a:xfrm>
            <a:prstGeom prst="line">
              <a:avLst/>
            </a:prstGeom>
            <a:noFill/>
            <a:ln w="2222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Shape 18"/>
            <p:cNvSpPr/>
            <p:nvPr/>
          </p:nvSpPr>
          <p:spPr>
            <a:xfrm>
              <a:off x="5760720" y="3017520"/>
              <a:ext cx="2240280" cy="914"/>
            </a:xfrm>
            <a:prstGeom prst="line">
              <a:avLst/>
            </a:prstGeom>
            <a:noFill/>
            <a:ln w="2222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Shape 19"/>
            <p:cNvSpPr/>
            <p:nvPr/>
          </p:nvSpPr>
          <p:spPr>
            <a:xfrm>
              <a:off x="8275320" y="3017520"/>
              <a:ext cx="777240" cy="914"/>
            </a:xfrm>
            <a:prstGeom prst="line">
              <a:avLst/>
            </a:prstGeom>
            <a:noFill/>
            <a:ln w="22225">
              <a:solidFill>
                <a:srgbClr val="8A979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Shape 20"/>
            <p:cNvSpPr/>
            <p:nvPr/>
          </p:nvSpPr>
          <p:spPr>
            <a:xfrm>
              <a:off x="9144000" y="2761488"/>
              <a:ext cx="502920" cy="51206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Shape 21"/>
            <p:cNvSpPr/>
            <p:nvPr/>
          </p:nvSpPr>
          <p:spPr>
            <a:xfrm>
              <a:off x="9264701" y="2886761"/>
              <a:ext cx="261518" cy="26151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Shape 22"/>
            <p:cNvSpPr/>
            <p:nvPr/>
          </p:nvSpPr>
          <p:spPr>
            <a:xfrm>
              <a:off x="9720072" y="2761488"/>
              <a:ext cx="502920" cy="51206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Shape 23"/>
            <p:cNvSpPr/>
            <p:nvPr/>
          </p:nvSpPr>
          <p:spPr>
            <a:xfrm>
              <a:off x="9840773" y="2886761"/>
              <a:ext cx="261518" cy="26151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Shape 24"/>
            <p:cNvSpPr/>
            <p:nvPr/>
          </p:nvSpPr>
          <p:spPr>
            <a:xfrm>
              <a:off x="10296144" y="2761488"/>
              <a:ext cx="502920" cy="51206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Shape 25"/>
            <p:cNvSpPr/>
            <p:nvPr/>
          </p:nvSpPr>
          <p:spPr>
            <a:xfrm>
              <a:off x="10872216" y="2761488"/>
              <a:ext cx="502920" cy="51206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9144000" y="3364992"/>
              <a:ext cx="223113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buffer</a:t>
              </a:r>
              <a:endParaRPr lang="en-US" sz="1100" dirty="0"/>
            </a:p>
          </p:txBody>
        </p:sp>
      </p:grpSp>
      <p:sp>
        <p:nvSpPr>
          <p:cNvPr id="29" name="Text 27"/>
          <p:cNvSpPr txBox="1"/>
          <p:nvPr/>
        </p:nvSpPr>
        <p:spPr>
          <a:xfrm>
            <a:off x="548640" y="5349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i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Possível e correto — mas exige combinar primitivas distintas, coordenadas à mão, em uma ordem que precisa estar exatamente certa.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FRAGILIDADE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6428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Semáforos: contar espaços e itens</a:t>
            </a:r>
            <a:endParaRPr lang="en-US" sz="3400" dirty="0"/>
          </a:p>
        </p:txBody>
      </p:sp>
      <p:grpSp>
        <p:nvGrpSpPr>
          <p:cNvPr id="19" name="Diagrama 1"/>
          <p:cNvGrpSpPr/>
          <p:nvPr/>
        </p:nvGrpSpPr>
        <p:grpSpPr>
          <a:xfrm>
            <a:off x="548640" y="1719072"/>
            <a:ext cx="11064240" cy="3355848"/>
            <a:chOff x="548640" y="1719072"/>
            <a:chExt cx="11064240" cy="3355848"/>
          </a:xfrm>
        </p:grpSpPr>
        <p:sp>
          <p:nvSpPr>
            <p:cNvPr id="6" name="Text 4"/>
            <p:cNvSpPr txBox="1"/>
            <p:nvPr/>
          </p:nvSpPr>
          <p:spPr>
            <a:xfrm>
              <a:off x="548640" y="1783080"/>
              <a:ext cx="34747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2600" b="1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empty = N</a:t>
              </a:r>
              <a:endParaRPr lang="en-US" sz="2600" dirty="0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548640" y="2350008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espaços livres</a:t>
              </a:r>
              <a:endParaRPr lang="en-US" sz="1100" dirty="0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548640" y="2926080"/>
              <a:ext cx="34747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2600" b="1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full = 0</a:t>
              </a:r>
              <a:endParaRPr lang="en-US" sz="2600" dirty="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548640" y="3493008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itens disponíveis</a:t>
              </a:r>
              <a:endParaRPr lang="en-US" sz="11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548640" y="4069080"/>
              <a:ext cx="34747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2600" b="1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mutex = 1</a:t>
              </a:r>
              <a:endParaRPr lang="en-US" sz="26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548640" y="4636008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acesso ao buffer</a:t>
              </a:r>
              <a:endParaRPr lang="en-US" sz="11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206240" y="2011680"/>
              <a:ext cx="3611880" cy="306324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4434840" y="2176272"/>
              <a:ext cx="3154680" cy="2734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3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void produtor() {</a:t>
              </a:r>
              <a:endParaRPr lang="en-US" sz="13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3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while (1) {</a:t>
              </a:r>
              <a:endParaRPr lang="en-US" sz="13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3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item = produzir();</a:t>
              </a:r>
              <a:endParaRPr lang="en-US" sz="13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300" b="1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down(&amp;empty);</a:t>
              </a:r>
              <a:endParaRPr lang="en-US" sz="13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300" b="1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down(&amp;mutex);</a:t>
              </a:r>
              <a:endParaRPr lang="en-US" sz="13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3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inserir(item);</a:t>
              </a:r>
              <a:endParaRPr lang="en-US" sz="13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300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up(&amp;mutex);</a:t>
              </a:r>
              <a:endParaRPr lang="en-US" sz="13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3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up(&amp;full);</a:t>
              </a:r>
              <a:endParaRPr lang="en-US" sz="13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3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}</a:t>
              </a:r>
              <a:endParaRPr lang="en-US" sz="13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3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}</a:t>
              </a:r>
              <a:endParaRPr lang="en-US" sz="130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4206240" y="1719072"/>
              <a:ext cx="3611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produtor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8001000" y="2011680"/>
              <a:ext cx="3611880" cy="306324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8229600" y="2176272"/>
              <a:ext cx="3154680" cy="2734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3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void consumidor() {</a:t>
              </a:r>
              <a:endParaRPr lang="en-US" sz="13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3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while (1) {</a:t>
              </a:r>
              <a:endParaRPr lang="en-US" sz="13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300" b="1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down(&amp;full);</a:t>
              </a:r>
              <a:endParaRPr lang="en-US" sz="13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300" b="1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down(&amp;mutex);</a:t>
              </a:r>
              <a:endParaRPr lang="en-US" sz="13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3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item = remover();</a:t>
              </a:r>
              <a:endParaRPr lang="en-US" sz="13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300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up(&amp;mutex);</a:t>
              </a:r>
              <a:endParaRPr lang="en-US" sz="13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3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up(&amp;empty);</a:t>
              </a:r>
              <a:endParaRPr lang="en-US" sz="13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3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consumir(item);</a:t>
              </a:r>
              <a:endParaRPr lang="en-US" sz="13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3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}</a:t>
              </a:r>
              <a:endParaRPr lang="en-US" sz="13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3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}</a:t>
              </a:r>
              <a:endParaRPr lang="en-US" sz="130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8001000" y="1719072"/>
              <a:ext cx="3611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consumidor</a:t>
              </a:r>
              <a:endParaRPr lang="en-US" sz="1000" dirty="0"/>
            </a:p>
          </p:txBody>
        </p:sp>
      </p:grpSp>
      <p:sp>
        <p:nvSpPr>
          <p:cNvPr id="18" name="Text 16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decrementa — ou bloqueia se o valor for zero.  up incrementa e acorda quem estiver esperando.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FRAGILIDADE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Mutex e região crítica em C</a:t>
            </a:r>
            <a:endParaRPr lang="en-US" sz="3400" dirty="0"/>
          </a:p>
        </p:txBody>
      </p:sp>
      <p:grpSp>
        <p:nvGrpSpPr>
          <p:cNvPr id="28" name="Diagrama 1"/>
          <p:cNvGrpSpPr/>
          <p:nvPr/>
        </p:nvGrpSpPr>
        <p:grpSpPr>
          <a:xfrm>
            <a:off x="548640" y="2194560"/>
            <a:ext cx="5166360" cy="2423160"/>
            <a:chOff x="548640" y="2194560"/>
            <a:chExt cx="5166360" cy="2423160"/>
          </a:xfrm>
        </p:grpSpPr>
        <p:sp>
          <p:nvSpPr>
            <p:cNvPr id="6" name="Shape 4"/>
            <p:cNvSpPr/>
            <p:nvPr/>
          </p:nvSpPr>
          <p:spPr>
            <a:xfrm>
              <a:off x="617220" y="2994660"/>
              <a:ext cx="411480" cy="41148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4A585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617220" y="2994660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1257300" y="2994660"/>
              <a:ext cx="411480" cy="41148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4A585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1257300" y="2994660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2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897380" y="2994660"/>
              <a:ext cx="411480" cy="41148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4A585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1897380" y="2994660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200" dirty="0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548640" y="356616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4A58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aguardando</a:t>
              </a:r>
              <a:endParaRPr lang="en-US" sz="11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606040" y="2377440"/>
              <a:ext cx="164592" cy="1645920"/>
            </a:xfrm>
            <a:prstGeom prst="rect">
              <a:avLst/>
            </a:prstGeom>
            <a:solidFill>
              <a:srgbClr val="E3A33B"/>
            </a:solidFill>
            <a:ln w="127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Shape 12"/>
            <p:cNvSpPr/>
            <p:nvPr/>
          </p:nvSpPr>
          <p:spPr>
            <a:xfrm>
              <a:off x="2971800" y="2194560"/>
              <a:ext cx="2743200" cy="201168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3154680" y="2304288"/>
              <a:ext cx="2377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região crítica</a:t>
              </a:r>
              <a:endParaRPr lang="en-US" sz="11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291840" y="3063240"/>
              <a:ext cx="457200" cy="45720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3291840" y="306324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</a:t>
              </a:r>
              <a:endParaRPr lang="en-US" sz="14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977640" y="3063240"/>
              <a:ext cx="45720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Shape 17"/>
            <p:cNvSpPr/>
            <p:nvPr/>
          </p:nvSpPr>
          <p:spPr>
            <a:xfrm>
              <a:off x="4087368" y="3172968"/>
              <a:ext cx="237744" cy="237744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Shape 18"/>
            <p:cNvSpPr/>
            <p:nvPr/>
          </p:nvSpPr>
          <p:spPr>
            <a:xfrm>
              <a:off x="4498848" y="3063240"/>
              <a:ext cx="45720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Shape 19"/>
            <p:cNvSpPr/>
            <p:nvPr/>
          </p:nvSpPr>
          <p:spPr>
            <a:xfrm>
              <a:off x="4608576" y="3172968"/>
              <a:ext cx="237744" cy="237744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Shape 20"/>
            <p:cNvSpPr/>
            <p:nvPr/>
          </p:nvSpPr>
          <p:spPr>
            <a:xfrm>
              <a:off x="5020056" y="3063240"/>
              <a:ext cx="457200" cy="45720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2971800" y="4343400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uma thread por vez</a:t>
              </a:r>
              <a:endParaRPr lang="en-US" sz="1100" dirty="0"/>
            </a:p>
          </p:txBody>
        </p:sp>
      </p:grpSp>
      <p:grpSp>
        <p:nvGrpSpPr>
          <p:cNvPr id="29" name="Diagrama 2"/>
          <p:cNvGrpSpPr/>
          <p:nvPr/>
        </p:nvGrpSpPr>
        <p:grpSpPr>
          <a:xfrm>
            <a:off x="6172200" y="1490472"/>
            <a:ext cx="5440680" cy="3035808"/>
            <a:chOff x="6172200" y="1490472"/>
            <a:chExt cx="5440680" cy="3035808"/>
          </a:xfrm>
        </p:grpSpPr>
        <p:sp>
          <p:nvSpPr>
            <p:cNvPr id="24" name="Shape 22"/>
            <p:cNvSpPr/>
            <p:nvPr/>
          </p:nvSpPr>
          <p:spPr>
            <a:xfrm>
              <a:off x="6172200" y="1783080"/>
              <a:ext cx="5440680" cy="274320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6400800" y="1947672"/>
              <a:ext cx="4983480" cy="2414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400" b="1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pthread_mutex_lock(&amp;buffer-&gt;trava);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while (buffer-&gt;tam == CAPACIDADE)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pthread_cond_wait(&amp;buffer-&gt;tem_espaco,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                  &amp;buffer-&gt;trava);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buffer-&gt;itens[buffer-&gt;fim] = item;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buffer-&gt;fim = (buffer-&gt;fim + 1) % CAPACIDADE;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buffer-&gt;tam++;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pthread_cond_signal(&amp;buffer-&gt;tem_item);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b="1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pthread_mutex_unlock(&amp;buffer-&gt;trava);</a:t>
              </a:r>
              <a:endParaRPr lang="en-US" sz="1400" dirty="0"/>
            </a:p>
          </p:txBody>
        </p:sp>
        <p:sp>
          <p:nvSpPr>
            <p:cNvPr id="26" name="Text 24"/>
            <p:cNvSpPr txBox="1"/>
            <p:nvPr/>
          </p:nvSpPr>
          <p:spPr>
            <a:xfrm>
              <a:off x="6172200" y="1490472"/>
              <a:ext cx="5440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produtor · inserir um item</a:t>
              </a:r>
              <a:endParaRPr lang="en-US" sz="1000" dirty="0"/>
            </a:p>
          </p:txBody>
        </p:sp>
      </p:grpSp>
      <p:sp>
        <p:nvSpPr>
          <p:cNvPr id="27" name="Text 25"/>
          <p:cNvSpPr txBox="1"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→ acessar buffer → unlock. O while testa de novo a condição ao acordar.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FRAGILIDADE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linhas trocadas, um impasse</a:t>
            </a:r>
            <a:endParaRPr lang="en-US" sz="3400" dirty="0"/>
          </a:p>
        </p:txBody>
      </p:sp>
      <p:grpSp>
        <p:nvGrpSpPr>
          <p:cNvPr id="23" name="Diagrama 1"/>
          <p:cNvGrpSpPr/>
          <p:nvPr/>
        </p:nvGrpSpPr>
        <p:grpSpPr>
          <a:xfrm>
            <a:off x="548640" y="1719072"/>
            <a:ext cx="11064240" cy="2898648"/>
            <a:chOff x="548640" y="1719072"/>
            <a:chExt cx="11064240" cy="2898648"/>
          </a:xfrm>
        </p:grpSpPr>
        <p:sp>
          <p:nvSpPr>
            <p:cNvPr id="6" name="Shape 4"/>
            <p:cNvSpPr/>
            <p:nvPr/>
          </p:nvSpPr>
          <p:spPr>
            <a:xfrm>
              <a:off x="548640" y="2011680"/>
              <a:ext cx="3383280" cy="201168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777240" y="2176272"/>
              <a:ext cx="2926080" cy="16824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5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down(&amp;empty);</a:t>
              </a:r>
              <a:endParaRPr lang="en-US" sz="15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5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down(&amp;mutex);</a:t>
              </a:r>
              <a:endParaRPr lang="en-US" sz="15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5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inserir(item);</a:t>
              </a:r>
              <a:endParaRPr lang="en-US" sz="15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5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up(&amp;mutex);</a:t>
              </a:r>
              <a:endParaRPr lang="en-US" sz="15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5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up(&amp;full);</a:t>
              </a:r>
              <a:endParaRPr lang="en-US" sz="1500" dirty="0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548640" y="1719072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correto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206240" y="2011680"/>
              <a:ext cx="3383280" cy="201168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4434840" y="2176272"/>
              <a:ext cx="2926080" cy="16824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500" b="1" dirty="0">
                  <a:solidFill>
                    <a:srgbClr val="E0564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down(&amp;mutex);</a:t>
              </a:r>
              <a:endParaRPr lang="en-US" sz="15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500" b="1" dirty="0">
                  <a:solidFill>
                    <a:srgbClr val="E0564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down(&amp;empty);</a:t>
              </a:r>
              <a:endParaRPr lang="en-US" sz="15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5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inserir(item);</a:t>
              </a:r>
              <a:endParaRPr lang="en-US" sz="15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5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up(&amp;mutex);</a:t>
              </a:r>
              <a:endParaRPr lang="en-US" sz="15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5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up(&amp;full);</a:t>
              </a:r>
              <a:endParaRPr lang="en-US" sz="15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4206240" y="1719072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duas linhas trocadas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8001000" y="2103120"/>
              <a:ext cx="164592" cy="164592"/>
            </a:xfrm>
            <a:prstGeom prst="ellipse">
              <a:avLst/>
            </a:prstGeom>
            <a:solidFill>
              <a:srgbClr val="8A979C"/>
            </a:solidFill>
            <a:ln w="127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8321040" y="2011680"/>
              <a:ext cx="32918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500" dirty="0">
                  <a:solidFill>
                    <a:srgbClr val="E8ED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buffer cheio</a:t>
              </a:r>
              <a:endParaRPr lang="en-US" sz="15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8001000" y="2651760"/>
              <a:ext cx="164592" cy="164592"/>
            </a:xfrm>
            <a:prstGeom prst="ellipse">
              <a:avLst/>
            </a:prstGeom>
            <a:solidFill>
              <a:srgbClr val="8A979C"/>
            </a:solidFill>
            <a:ln w="127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8321040" y="2560320"/>
              <a:ext cx="32918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500" dirty="0">
                  <a:solidFill>
                    <a:srgbClr val="E8ED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produtor pega o mutex…</a:t>
              </a:r>
              <a:endParaRPr lang="en-US" sz="15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8001000" y="3200400"/>
              <a:ext cx="164592" cy="164592"/>
            </a:xfrm>
            <a:prstGeom prst="ellipse">
              <a:avLst/>
            </a:prstGeom>
            <a:solidFill>
              <a:srgbClr val="E3A33B"/>
            </a:solidFill>
            <a:ln w="127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8321040" y="3108960"/>
              <a:ext cx="32918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500" dirty="0">
                  <a:solidFill>
                    <a:srgbClr val="E3A3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…e dorme em empty, segurando o mutex</a:t>
              </a:r>
              <a:endParaRPr lang="en-US" sz="15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8001000" y="3749040"/>
              <a:ext cx="164592" cy="164592"/>
            </a:xfrm>
            <a:prstGeom prst="ellipse">
              <a:avLst/>
            </a:prstGeom>
            <a:solidFill>
              <a:srgbClr val="E3A33B"/>
            </a:solidFill>
            <a:ln w="127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8321040" y="3657600"/>
              <a:ext cx="32918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500" dirty="0">
                  <a:solidFill>
                    <a:srgbClr val="E3A3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consumidor bloqueia em down(&amp;mutex)</a:t>
              </a:r>
              <a:endParaRPr lang="en-US" sz="15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8001000" y="4297680"/>
              <a:ext cx="164592" cy="164592"/>
            </a:xfrm>
            <a:prstGeom prst="ellipse">
              <a:avLst/>
            </a:prstGeom>
            <a:solidFill>
              <a:srgbClr val="E0564B"/>
            </a:solidFill>
            <a:ln w="12700">
              <a:solidFill>
                <a:srgbClr val="E0564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8321040" y="4206240"/>
              <a:ext cx="32918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500" dirty="0">
                  <a:solidFill>
                    <a:srgbClr val="E056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ninguém acorda</a:t>
              </a:r>
              <a:endParaRPr lang="en-US" sz="1500" dirty="0"/>
            </a:p>
          </p:txBody>
        </p:sp>
      </p:grpSp>
      <p:sp>
        <p:nvSpPr>
          <p:cNvPr id="22" name="Text 20"/>
          <p:cNvSpPr txBox="1"/>
          <p:nvPr/>
        </p:nvSpPr>
        <p:spPr>
          <a:xfrm>
            <a:off x="548640" y="4892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i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programa não falha com erro nem trava a máquina: ele simplesmente para.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FRAGILIDADE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29317" y="6355080"/>
            <a:ext cx="5325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Java: o monitor embute a trava no objeto</a:t>
            </a:r>
            <a:endParaRPr lang="en-US" sz="3400" dirty="0"/>
          </a:p>
        </p:txBody>
      </p:sp>
      <p:grpSp>
        <p:nvGrpSpPr>
          <p:cNvPr id="23" name="Diagrama 1"/>
          <p:cNvGrpSpPr/>
          <p:nvPr/>
        </p:nvGrpSpPr>
        <p:grpSpPr>
          <a:xfrm>
            <a:off x="548640" y="2011680"/>
            <a:ext cx="4480560" cy="2377440"/>
            <a:chOff x="548640" y="2011680"/>
            <a:chExt cx="4480560" cy="2377440"/>
          </a:xfrm>
        </p:grpSpPr>
        <p:sp>
          <p:nvSpPr>
            <p:cNvPr id="6" name="Shape 4"/>
            <p:cNvSpPr/>
            <p:nvPr/>
          </p:nvSpPr>
          <p:spPr>
            <a:xfrm>
              <a:off x="548640" y="2011680"/>
              <a:ext cx="4480560" cy="2377440"/>
            </a:xfrm>
            <a:prstGeom prst="roundRect">
              <a:avLst>
                <a:gd name="adj" fmla="val 4615"/>
              </a:avLst>
            </a:prstGeom>
            <a:solidFill>
              <a:srgbClr val="0D1417"/>
            </a:solidFill>
            <a:ln w="1905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777240" y="2148840"/>
              <a:ext cx="4023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objeto Buffer · monitor</a:t>
              </a:r>
              <a:endParaRPr lang="en-US" sz="11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868680" y="2697480"/>
              <a:ext cx="502920" cy="50292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Shape 7"/>
            <p:cNvSpPr/>
            <p:nvPr/>
          </p:nvSpPr>
          <p:spPr>
            <a:xfrm>
              <a:off x="989381" y="2818181"/>
              <a:ext cx="261518" cy="26151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Shape 8"/>
            <p:cNvSpPr/>
            <p:nvPr/>
          </p:nvSpPr>
          <p:spPr>
            <a:xfrm>
              <a:off x="1444752" y="2697480"/>
              <a:ext cx="502920" cy="50292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9"/>
            <p:cNvSpPr/>
            <p:nvPr/>
          </p:nvSpPr>
          <p:spPr>
            <a:xfrm>
              <a:off x="1565453" y="2818181"/>
              <a:ext cx="261518" cy="26151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Shape 10"/>
            <p:cNvSpPr/>
            <p:nvPr/>
          </p:nvSpPr>
          <p:spPr>
            <a:xfrm>
              <a:off x="2020824" y="2697480"/>
              <a:ext cx="502920" cy="50292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11"/>
            <p:cNvSpPr/>
            <p:nvPr/>
          </p:nvSpPr>
          <p:spPr>
            <a:xfrm>
              <a:off x="2141525" y="2818181"/>
              <a:ext cx="261518" cy="26151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Shape 12"/>
            <p:cNvSpPr/>
            <p:nvPr/>
          </p:nvSpPr>
          <p:spPr>
            <a:xfrm>
              <a:off x="2596896" y="2697480"/>
              <a:ext cx="502920" cy="50292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Shape 13"/>
            <p:cNvSpPr/>
            <p:nvPr/>
          </p:nvSpPr>
          <p:spPr>
            <a:xfrm>
              <a:off x="2717597" y="2818181"/>
              <a:ext cx="261518" cy="26151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Shape 14"/>
            <p:cNvSpPr/>
            <p:nvPr/>
          </p:nvSpPr>
          <p:spPr>
            <a:xfrm>
              <a:off x="3172968" y="2697480"/>
              <a:ext cx="502920" cy="50292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15"/>
            <p:cNvSpPr/>
            <p:nvPr/>
          </p:nvSpPr>
          <p:spPr>
            <a:xfrm>
              <a:off x="3749040" y="2697480"/>
              <a:ext cx="502920" cy="502920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777240" y="3429000"/>
              <a:ext cx="4023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trava implícita · uma thread por vez</a:t>
              </a:r>
              <a:endParaRPr lang="en-US" sz="1100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777240" y="3886200"/>
              <a:ext cx="4023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A58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wait set: threads em wait()</a:t>
              </a:r>
              <a:endParaRPr lang="en-US" sz="1100" dirty="0"/>
            </a:p>
          </p:txBody>
        </p:sp>
      </p:grpSp>
      <p:grpSp>
        <p:nvGrpSpPr>
          <p:cNvPr id="24" name="Diagrama 2"/>
          <p:cNvGrpSpPr/>
          <p:nvPr/>
        </p:nvGrpSpPr>
        <p:grpSpPr>
          <a:xfrm>
            <a:off x="5486400" y="1828800"/>
            <a:ext cx="6126480" cy="3017520"/>
            <a:chOff x="5486400" y="1828800"/>
            <a:chExt cx="6126480" cy="3017520"/>
          </a:xfrm>
        </p:grpSpPr>
        <p:sp>
          <p:nvSpPr>
            <p:cNvPr id="20" name="Shape 18"/>
            <p:cNvSpPr/>
            <p:nvPr/>
          </p:nvSpPr>
          <p:spPr>
            <a:xfrm>
              <a:off x="5486400" y="1828800"/>
              <a:ext cx="6126480" cy="301752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5715000" y="1993392"/>
              <a:ext cx="5669280" cy="2688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400" b="1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public synchronized void inserir(int item)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    throws InterruptedException {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while (tam == CAPACIDADE) wait();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itens[fim] = item;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fim = (fim + 1) % CAPACIDADE;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tam++;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notifyAll();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}</a:t>
              </a:r>
              <a:endParaRPr lang="en-US" sz="1400" dirty="0"/>
            </a:p>
          </p:txBody>
        </p:sp>
      </p:grpSp>
      <p:sp>
        <p:nvSpPr>
          <p:cNvPr id="22" name="Text 20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3A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synchronized</a:t>
            </a:r>
            <a:r>
              <a:rPr lang="en-US" sz="16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protege o método.  </a:t>
            </a:r>
            <a:r>
              <a:rPr lang="en-US" sz="16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</a:t>
            </a:r>
            <a:r>
              <a:rPr lang="en-US" sz="16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libera a trava e espera.  </a:t>
            </a:r>
            <a:r>
              <a:rPr lang="en-US" sz="16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notifyAll</a:t>
            </a:r>
            <a:r>
              <a:rPr lang="en-US" sz="16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acorda quem espera.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RUPTURA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1440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i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se, em vez de compartilhar memória, os participantes se comunicassem?</a:t>
            </a:r>
            <a:endParaRPr lang="en-US" sz="3200" dirty="0"/>
          </a:p>
        </p:txBody>
      </p:sp>
      <p:grpSp>
        <p:nvGrpSpPr>
          <p:cNvPr id="29" name="Diagrama 1"/>
          <p:cNvGrpSpPr/>
          <p:nvPr/>
        </p:nvGrpSpPr>
        <p:grpSpPr>
          <a:xfrm>
            <a:off x="548640" y="3017520"/>
            <a:ext cx="3657600" cy="2103120"/>
            <a:chOff x="548640" y="3017520"/>
            <a:chExt cx="3657600" cy="2103120"/>
          </a:xfrm>
        </p:grpSpPr>
        <p:sp>
          <p:nvSpPr>
            <p:cNvPr id="6" name="Shape 4"/>
            <p:cNvSpPr/>
            <p:nvPr/>
          </p:nvSpPr>
          <p:spPr>
            <a:xfrm>
              <a:off x="1737360" y="3108960"/>
              <a:ext cx="2377440" cy="137160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4A585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1737360" y="3611880"/>
              <a:ext cx="2377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 err="1">
                  <a:solidFill>
                    <a:srgbClr val="4A58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memória</a:t>
              </a:r>
              <a:r>
                <a:rPr lang="en-US" sz="1400" dirty="0">
                  <a:solidFill>
                    <a:srgbClr val="4A58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</a:t>
              </a:r>
              <a:endParaRPr lang="en-US" sz="14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594360" y="3017520"/>
              <a:ext cx="548640" cy="54864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4A585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594360" y="301752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4A58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T1</a:t>
              </a:r>
              <a:endParaRPr lang="en-US" sz="13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94360" y="4023360"/>
              <a:ext cx="548640" cy="54864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4A585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594360" y="402336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4A58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T2</a:t>
              </a:r>
              <a:endParaRPr lang="en-US" sz="13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1161288" y="3337560"/>
              <a:ext cx="557784" cy="182880"/>
            </a:xfrm>
            <a:prstGeom prst="line">
              <a:avLst/>
            </a:prstGeom>
            <a:noFill/>
            <a:ln w="22225">
              <a:solidFill>
                <a:srgbClr val="4A585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11"/>
            <p:cNvSpPr/>
            <p:nvPr/>
          </p:nvSpPr>
          <p:spPr>
            <a:xfrm flipV="1">
              <a:off x="1161288" y="4069080"/>
              <a:ext cx="557784" cy="182880"/>
            </a:xfrm>
            <a:prstGeom prst="line">
              <a:avLst/>
            </a:prstGeom>
            <a:noFill/>
            <a:ln w="22225">
              <a:solidFill>
                <a:srgbClr val="4A585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548640" y="484632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A58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    </a:t>
              </a:r>
              <a:r>
                <a:rPr lang="en-US" sz="1400" dirty="0" err="1">
                  <a:solidFill>
                    <a:srgbClr val="4A58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compartilhar</a:t>
              </a:r>
              <a:r>
                <a:rPr lang="en-US" sz="1400" dirty="0">
                  <a:solidFill>
                    <a:srgbClr val="4A58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</a:t>
              </a:r>
              <a:r>
                <a:rPr lang="en-US" sz="1400" dirty="0" err="1">
                  <a:solidFill>
                    <a:srgbClr val="4A58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memória</a:t>
              </a:r>
              <a:endParaRPr lang="en-US" sz="1400" dirty="0"/>
            </a:p>
          </p:txBody>
        </p:sp>
      </p:grpSp>
      <p:sp>
        <p:nvSpPr>
          <p:cNvPr id="15" name="Shape 13"/>
          <p:cNvSpPr/>
          <p:nvPr/>
        </p:nvSpPr>
        <p:spPr>
          <a:xfrm>
            <a:off x="4663440" y="3794760"/>
            <a:ext cx="1097280" cy="914"/>
          </a:xfrm>
          <a:prstGeom prst="line">
            <a:avLst/>
          </a:prstGeom>
          <a:noFill/>
          <a:ln w="31750">
            <a:solidFill>
              <a:srgbClr val="E3A33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grpSp>
        <p:nvGrpSpPr>
          <p:cNvPr id="30" name="Diagrama 2"/>
          <p:cNvGrpSpPr/>
          <p:nvPr/>
        </p:nvGrpSpPr>
        <p:grpSpPr>
          <a:xfrm>
            <a:off x="6309360" y="3429000"/>
            <a:ext cx="4663440" cy="731520"/>
            <a:chOff x="6309360" y="3429000"/>
            <a:chExt cx="4663440" cy="731520"/>
          </a:xfrm>
        </p:grpSpPr>
        <p:sp>
          <p:nvSpPr>
            <p:cNvPr id="16" name="Shape 14"/>
            <p:cNvSpPr/>
            <p:nvPr/>
          </p:nvSpPr>
          <p:spPr>
            <a:xfrm>
              <a:off x="6309360" y="3429000"/>
              <a:ext cx="731520" cy="73152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6309360" y="3429000"/>
              <a:ext cx="7315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</a:t>
              </a:r>
              <a:endParaRPr lang="en-US" sz="21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086600" y="3794760"/>
              <a:ext cx="502920" cy="914"/>
            </a:xfrm>
            <a:prstGeom prst="line">
              <a:avLst/>
            </a:prstGeom>
            <a:noFill/>
            <a:ln w="22225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Shape 17"/>
            <p:cNvSpPr/>
            <p:nvPr/>
          </p:nvSpPr>
          <p:spPr>
            <a:xfrm>
              <a:off x="7680960" y="3538728"/>
              <a:ext cx="457200" cy="51206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Shape 18"/>
            <p:cNvSpPr/>
            <p:nvPr/>
          </p:nvSpPr>
          <p:spPr>
            <a:xfrm>
              <a:off x="7790688" y="3675888"/>
              <a:ext cx="237744" cy="237744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Shape 19"/>
            <p:cNvSpPr/>
            <p:nvPr/>
          </p:nvSpPr>
          <p:spPr>
            <a:xfrm>
              <a:off x="8202168" y="3538728"/>
              <a:ext cx="457200" cy="51206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Shape 20"/>
            <p:cNvSpPr/>
            <p:nvPr/>
          </p:nvSpPr>
          <p:spPr>
            <a:xfrm>
              <a:off x="8311896" y="3675888"/>
              <a:ext cx="237744" cy="237744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Shape 21"/>
            <p:cNvSpPr/>
            <p:nvPr/>
          </p:nvSpPr>
          <p:spPr>
            <a:xfrm>
              <a:off x="8723376" y="3538728"/>
              <a:ext cx="457200" cy="51206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Shape 22"/>
            <p:cNvSpPr/>
            <p:nvPr/>
          </p:nvSpPr>
          <p:spPr>
            <a:xfrm>
              <a:off x="9244584" y="3538728"/>
              <a:ext cx="457200" cy="51206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Shape 23"/>
            <p:cNvSpPr/>
            <p:nvPr/>
          </p:nvSpPr>
          <p:spPr>
            <a:xfrm>
              <a:off x="9692640" y="3794760"/>
              <a:ext cx="502920" cy="914"/>
            </a:xfrm>
            <a:prstGeom prst="line">
              <a:avLst/>
            </a:prstGeom>
            <a:noFill/>
            <a:ln w="22225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Shape 24"/>
            <p:cNvSpPr/>
            <p:nvPr/>
          </p:nvSpPr>
          <p:spPr>
            <a:xfrm>
              <a:off x="10241280" y="3429000"/>
              <a:ext cx="731520" cy="73152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10241280" y="3429000"/>
              <a:ext cx="7315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B</a:t>
              </a:r>
              <a:endParaRPr lang="en-US" sz="2100" dirty="0"/>
            </a:p>
          </p:txBody>
        </p:sp>
      </p:grpSp>
      <p:sp>
        <p:nvSpPr>
          <p:cNvPr id="28" name="Text 26"/>
          <p:cNvSpPr txBox="1"/>
          <p:nvPr/>
        </p:nvSpPr>
        <p:spPr>
          <a:xfrm>
            <a:off x="640080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comunicar por um canal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RUPTURA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CSP — Hoare, 1978</a:t>
            </a:r>
            <a:endParaRPr lang="en-US" sz="3400" dirty="0"/>
          </a:p>
        </p:txBody>
      </p:sp>
      <p:grpSp>
        <p:nvGrpSpPr>
          <p:cNvPr id="32" name="Diagrama 1"/>
          <p:cNvGrpSpPr/>
          <p:nvPr/>
        </p:nvGrpSpPr>
        <p:grpSpPr>
          <a:xfrm>
            <a:off x="548640" y="1463040"/>
            <a:ext cx="11430000" cy="3794760"/>
            <a:chOff x="548640" y="1463040"/>
            <a:chExt cx="11430000" cy="3794760"/>
          </a:xfrm>
        </p:grpSpPr>
        <p:sp>
          <p:nvSpPr>
            <p:cNvPr id="6" name="Text 4"/>
            <p:cNvSpPr txBox="1"/>
            <p:nvPr/>
          </p:nvSpPr>
          <p:spPr>
            <a:xfrm>
              <a:off x="548640" y="1463040"/>
              <a:ext cx="7315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kern="0" spc="2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COMMUNICATING SEQUENTIAL PROCESSES</a:t>
              </a:r>
              <a:endParaRPr lang="en-US" sz="1100" dirty="0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548640" y="205740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01</a:t>
              </a:r>
              <a:endParaRPr lang="en-US" sz="1300" dirty="0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548640" y="2377440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22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Processos</a:t>
              </a:r>
              <a:endParaRPr lang="en-US" sz="2200" dirty="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548640" y="2880360"/>
              <a:ext cx="338328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500" dirty="0">
                  <a:solidFill>
                    <a:srgbClr val="C3CCC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Unidades de execução isoladas. Nenhum estado interno é compartilhado.</a:t>
              </a:r>
              <a:endParaRPr lang="en-US" sz="15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4297680" y="205740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02</a:t>
              </a:r>
              <a:endParaRPr lang="en-US" sz="13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4297680" y="2377440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22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Sequenciais</a:t>
              </a:r>
              <a:endParaRPr lang="en-US" sz="2200" dirty="0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4297680" y="2880360"/>
              <a:ext cx="338328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500" dirty="0">
                  <a:solidFill>
                    <a:srgbClr val="C3CCC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Dentro de cada processo, as instruções seguem uma ordem única, sem paralelismo interno.</a:t>
              </a:r>
              <a:endParaRPr lang="en-US" sz="15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8046720" y="205740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03</a:t>
              </a:r>
              <a:endParaRPr lang="en-US" sz="130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8046720" y="2377440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22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Comunicação</a:t>
              </a:r>
              <a:endParaRPr lang="en-US" sz="2200" dirty="0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8046720" y="2880360"/>
              <a:ext cx="338328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500" dirty="0">
                  <a:solidFill>
                    <a:srgbClr val="C3CCC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coordenação ocorre por canais: envio e recepção são um evento acoplado.</a:t>
              </a:r>
              <a:endParaRPr lang="en-US" sz="15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822960" y="4800600"/>
              <a:ext cx="10515600" cy="914"/>
            </a:xfrm>
            <a:prstGeom prst="line">
              <a:avLst/>
            </a:prstGeom>
            <a:noFill/>
            <a:ln w="15875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15"/>
            <p:cNvSpPr/>
            <p:nvPr/>
          </p:nvSpPr>
          <p:spPr>
            <a:xfrm>
              <a:off x="822960" y="4709160"/>
              <a:ext cx="182880" cy="182880"/>
            </a:xfrm>
            <a:prstGeom prst="ellipse">
              <a:avLst/>
            </a:prstGeom>
            <a:solidFill>
              <a:srgbClr val="8A979C"/>
            </a:solidFill>
            <a:ln w="12700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731520" y="438912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1978</a:t>
              </a:r>
              <a:endParaRPr lang="en-US" sz="1100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731520" y="498348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CSP · Hoare</a:t>
              </a:r>
              <a:endParaRPr lang="en-US" sz="12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108960" y="4709160"/>
              <a:ext cx="182880" cy="182880"/>
            </a:xfrm>
            <a:prstGeom prst="ellipse">
              <a:avLst/>
            </a:prstGeom>
            <a:solidFill>
              <a:srgbClr val="8A979C"/>
            </a:solidFill>
            <a:ln w="12700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3017520" y="438912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anos 1980</a:t>
              </a:r>
              <a:endParaRPr lang="en-US" sz="1100" dirty="0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3017520" y="498348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Squeak</a:t>
              </a:r>
              <a:endParaRPr lang="en-US" sz="12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394960" y="4709160"/>
              <a:ext cx="182880" cy="182880"/>
            </a:xfrm>
            <a:prstGeom prst="ellipse">
              <a:avLst/>
            </a:prstGeom>
            <a:solidFill>
              <a:srgbClr val="8A979C"/>
            </a:solidFill>
            <a:ln w="12700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 22"/>
            <p:cNvSpPr txBox="1"/>
            <p:nvPr/>
          </p:nvSpPr>
          <p:spPr>
            <a:xfrm>
              <a:off x="5303520" y="438912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1989</a:t>
              </a:r>
              <a:endParaRPr lang="en-US" sz="1100" dirty="0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5303520" y="498348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Newsqueak</a:t>
              </a:r>
              <a:endParaRPr lang="en-US" sz="12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7680960" y="4709160"/>
              <a:ext cx="182880" cy="182880"/>
            </a:xfrm>
            <a:prstGeom prst="ellipse">
              <a:avLst/>
            </a:prstGeom>
            <a:solidFill>
              <a:srgbClr val="8A979C"/>
            </a:solidFill>
            <a:ln w="12700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7589520" y="438912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anos 1990</a:t>
              </a:r>
              <a:endParaRPr lang="en-US" sz="1100" dirty="0"/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7589520" y="498348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Alef · Limbo</a:t>
              </a:r>
              <a:endParaRPr lang="en-US" sz="12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9966960" y="4709160"/>
              <a:ext cx="182880" cy="18288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Text 28"/>
            <p:cNvSpPr txBox="1"/>
            <p:nvPr/>
          </p:nvSpPr>
          <p:spPr>
            <a:xfrm>
              <a:off x="9875520" y="438912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2007 / 2009</a:t>
              </a:r>
              <a:endParaRPr lang="en-US" sz="1100" dirty="0"/>
            </a:p>
          </p:txBody>
        </p:sp>
        <p:sp>
          <p:nvSpPr>
            <p:cNvPr id="31" name="Text 29"/>
            <p:cNvSpPr txBox="1"/>
            <p:nvPr/>
          </p:nvSpPr>
          <p:spPr>
            <a:xfrm>
              <a:off x="9875520" y="498348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Go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RUPTURA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i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“Não comunique compartilhando memória; em vez disso, compartilhe memória comunicando.”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7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Effective Go · citado em “Share Memory By Communicating”, A. Gerrand, The Go Blog, 2010</a:t>
            </a:r>
            <a:endParaRPr lang="en-US" sz="1400" dirty="0"/>
          </a:p>
        </p:txBody>
      </p:sp>
      <p:grpSp>
        <p:nvGrpSpPr>
          <p:cNvPr id="19" name="Diagrama 1"/>
          <p:cNvGrpSpPr/>
          <p:nvPr/>
        </p:nvGrpSpPr>
        <p:grpSpPr>
          <a:xfrm>
            <a:off x="754380" y="4059936"/>
            <a:ext cx="4251960" cy="946404"/>
            <a:chOff x="754380" y="4059936"/>
            <a:chExt cx="4251960" cy="946404"/>
          </a:xfrm>
        </p:grpSpPr>
        <p:sp>
          <p:nvSpPr>
            <p:cNvPr id="7" name="Shape 5"/>
            <p:cNvSpPr/>
            <p:nvPr/>
          </p:nvSpPr>
          <p:spPr>
            <a:xfrm>
              <a:off x="754380" y="4320540"/>
              <a:ext cx="685800" cy="68580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754380" y="4320540"/>
              <a:ext cx="685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</a:t>
              </a:r>
              <a:endParaRPr lang="en-US" sz="2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1481328" y="4663440"/>
              <a:ext cx="576072" cy="914"/>
            </a:xfrm>
            <a:prstGeom prst="line">
              <a:avLst/>
            </a:prstGeom>
            <a:noFill/>
            <a:ln w="22225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Shape 8"/>
            <p:cNvSpPr/>
            <p:nvPr/>
          </p:nvSpPr>
          <p:spPr>
            <a:xfrm>
              <a:off x="2148840" y="4416552"/>
              <a:ext cx="457200" cy="493776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9"/>
            <p:cNvSpPr/>
            <p:nvPr/>
          </p:nvSpPr>
          <p:spPr>
            <a:xfrm>
              <a:off x="2258568" y="4544568"/>
              <a:ext cx="237744" cy="237744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Shape 10"/>
            <p:cNvSpPr/>
            <p:nvPr/>
          </p:nvSpPr>
          <p:spPr>
            <a:xfrm>
              <a:off x="2670048" y="4416552"/>
              <a:ext cx="457200" cy="493776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11"/>
            <p:cNvSpPr/>
            <p:nvPr/>
          </p:nvSpPr>
          <p:spPr>
            <a:xfrm>
              <a:off x="3191256" y="4416552"/>
              <a:ext cx="457200" cy="493776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Shape 12"/>
            <p:cNvSpPr/>
            <p:nvPr/>
          </p:nvSpPr>
          <p:spPr>
            <a:xfrm>
              <a:off x="3703320" y="4663440"/>
              <a:ext cx="576072" cy="914"/>
            </a:xfrm>
            <a:prstGeom prst="line">
              <a:avLst/>
            </a:prstGeom>
            <a:noFill/>
            <a:ln w="22225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Shape 13"/>
            <p:cNvSpPr/>
            <p:nvPr/>
          </p:nvSpPr>
          <p:spPr>
            <a:xfrm>
              <a:off x="4320540" y="4320540"/>
              <a:ext cx="685800" cy="68580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4320540" y="4320540"/>
              <a:ext cx="685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B</a:t>
              </a:r>
              <a:endParaRPr lang="en-US" sz="2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562856" y="4059936"/>
              <a:ext cx="201168" cy="20116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8" name="Text 16"/>
          <p:cNvSpPr txBox="1"/>
          <p:nvPr/>
        </p:nvSpPr>
        <p:spPr>
          <a:xfrm>
            <a:off x="5760720" y="42062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propriedade do dado é transferida pelo canal: quem envia deixa de usá-lo, quem recebe passa a ser o dono.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RUPTURA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Goroutines: unidades de execução do runtime</a:t>
            </a:r>
            <a:endParaRPr lang="en-US" sz="3400" dirty="0"/>
          </a:p>
        </p:txBody>
      </p:sp>
      <p:grpSp>
        <p:nvGrpSpPr>
          <p:cNvPr id="37" name="Diagrama 1"/>
          <p:cNvGrpSpPr/>
          <p:nvPr/>
        </p:nvGrpSpPr>
        <p:grpSpPr>
          <a:xfrm>
            <a:off x="548640" y="1737360"/>
            <a:ext cx="4206240" cy="3291840"/>
            <a:chOff x="548640" y="1737360"/>
            <a:chExt cx="4206240" cy="3291840"/>
          </a:xfrm>
        </p:grpSpPr>
        <p:sp>
          <p:nvSpPr>
            <p:cNvPr id="6" name="Text 4"/>
            <p:cNvSpPr txBox="1"/>
            <p:nvPr/>
          </p:nvSpPr>
          <p:spPr>
            <a:xfrm>
              <a:off x="548640" y="1737360"/>
              <a:ext cx="384048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0" b="1" dirty="0">
                  <a:solidFill>
                    <a:srgbClr val="3FC8DC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 KB</a:t>
              </a:r>
              <a:endParaRPr lang="en-US" sz="8000" dirty="0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548640" y="3017520"/>
              <a:ext cx="402336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rgbClr val="C3CCC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pilha mínima de uma goroutine, que cresce e encolhe conforme a necessidade</a:t>
              </a:r>
              <a:endParaRPr lang="en-US" sz="1600" dirty="0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548640" y="3794760"/>
              <a:ext cx="4206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A58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stackMin = 2048 · runtime/stack.go</a:t>
              </a:r>
              <a:endParaRPr lang="en-US" sz="14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548640" y="4389120"/>
              <a:ext cx="4023360" cy="64008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777240" y="4553712"/>
              <a:ext cx="35661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800" b="1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go produtor(canal)</a:t>
              </a:r>
              <a:endParaRPr lang="en-US" sz="1800" dirty="0"/>
            </a:p>
          </p:txBody>
        </p:sp>
      </p:grpSp>
      <p:grpSp>
        <p:nvGrpSpPr>
          <p:cNvPr id="38" name="Diagrama 2"/>
          <p:cNvGrpSpPr/>
          <p:nvPr/>
        </p:nvGrpSpPr>
        <p:grpSpPr>
          <a:xfrm>
            <a:off x="5486400" y="1965960"/>
            <a:ext cx="6309360" cy="3703320"/>
            <a:chOff x="5486400" y="1965960"/>
            <a:chExt cx="6309360" cy="3703320"/>
          </a:xfrm>
        </p:grpSpPr>
        <p:sp>
          <p:nvSpPr>
            <p:cNvPr id="11" name="Shape 9"/>
            <p:cNvSpPr/>
            <p:nvPr/>
          </p:nvSpPr>
          <p:spPr>
            <a:xfrm>
              <a:off x="5596128" y="1984248"/>
              <a:ext cx="237744" cy="237744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Shape 10"/>
            <p:cNvSpPr/>
            <p:nvPr/>
          </p:nvSpPr>
          <p:spPr>
            <a:xfrm>
              <a:off x="6007608" y="1984248"/>
              <a:ext cx="237744" cy="237744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11"/>
            <p:cNvSpPr/>
            <p:nvPr/>
          </p:nvSpPr>
          <p:spPr>
            <a:xfrm>
              <a:off x="6419088" y="1984248"/>
              <a:ext cx="237744" cy="237744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Shape 12"/>
            <p:cNvSpPr/>
            <p:nvPr/>
          </p:nvSpPr>
          <p:spPr>
            <a:xfrm>
              <a:off x="6830568" y="1984248"/>
              <a:ext cx="237744" cy="237744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Shape 13"/>
            <p:cNvSpPr/>
            <p:nvPr/>
          </p:nvSpPr>
          <p:spPr>
            <a:xfrm>
              <a:off x="7242048" y="1984248"/>
              <a:ext cx="237744" cy="237744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Shape 14"/>
            <p:cNvSpPr/>
            <p:nvPr/>
          </p:nvSpPr>
          <p:spPr>
            <a:xfrm>
              <a:off x="8156448" y="1984248"/>
              <a:ext cx="237744" cy="237744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15"/>
            <p:cNvSpPr/>
            <p:nvPr/>
          </p:nvSpPr>
          <p:spPr>
            <a:xfrm>
              <a:off x="8567928" y="1984248"/>
              <a:ext cx="237744" cy="237744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Shape 16"/>
            <p:cNvSpPr/>
            <p:nvPr/>
          </p:nvSpPr>
          <p:spPr>
            <a:xfrm>
              <a:off x="8979408" y="1984248"/>
              <a:ext cx="237744" cy="237744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Shape 17"/>
            <p:cNvSpPr/>
            <p:nvPr/>
          </p:nvSpPr>
          <p:spPr>
            <a:xfrm>
              <a:off x="9390888" y="1984248"/>
              <a:ext cx="237744" cy="237744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Shape 18"/>
            <p:cNvSpPr/>
            <p:nvPr/>
          </p:nvSpPr>
          <p:spPr>
            <a:xfrm>
              <a:off x="9802368" y="1984248"/>
              <a:ext cx="237744" cy="237744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10332720" y="1965960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 · goroutines</a:t>
              </a:r>
              <a:endParaRPr lang="en-US" sz="11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6583680" y="2331720"/>
              <a:ext cx="914" cy="548640"/>
            </a:xfrm>
            <a:prstGeom prst="line">
              <a:avLst/>
            </a:prstGeom>
            <a:noFill/>
            <a:ln w="22225">
              <a:solidFill>
                <a:srgbClr val="4A585E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Shape 21"/>
            <p:cNvSpPr/>
            <p:nvPr/>
          </p:nvSpPr>
          <p:spPr>
            <a:xfrm>
              <a:off x="5760720" y="2971800"/>
              <a:ext cx="1645920" cy="50292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 22"/>
            <p:cNvSpPr txBox="1"/>
            <p:nvPr/>
          </p:nvSpPr>
          <p:spPr>
            <a:xfrm>
              <a:off x="5760720" y="2971800"/>
              <a:ext cx="1645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P1</a:t>
              </a:r>
              <a:endParaRPr lang="en-US" sz="14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583680" y="3520440"/>
              <a:ext cx="914" cy="548640"/>
            </a:xfrm>
            <a:prstGeom prst="line">
              <a:avLst/>
            </a:prstGeom>
            <a:noFill/>
            <a:ln w="22225">
              <a:solidFill>
                <a:srgbClr val="4A585E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Shape 24"/>
            <p:cNvSpPr/>
            <p:nvPr/>
          </p:nvSpPr>
          <p:spPr>
            <a:xfrm>
              <a:off x="5760720" y="4160520"/>
              <a:ext cx="1645920" cy="502920"/>
            </a:xfrm>
            <a:prstGeom prst="rect">
              <a:avLst/>
            </a:prstGeom>
            <a:solidFill>
              <a:srgbClr val="070B0D"/>
            </a:solidFill>
            <a:ln w="127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5760720" y="4160520"/>
              <a:ext cx="1645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M1</a:t>
              </a:r>
              <a:endParaRPr lang="en-US" sz="14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9144000" y="2331720"/>
              <a:ext cx="914" cy="548640"/>
            </a:xfrm>
            <a:prstGeom prst="line">
              <a:avLst/>
            </a:prstGeom>
            <a:noFill/>
            <a:ln w="22225">
              <a:solidFill>
                <a:srgbClr val="4A585E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Shape 27"/>
            <p:cNvSpPr/>
            <p:nvPr/>
          </p:nvSpPr>
          <p:spPr>
            <a:xfrm>
              <a:off x="8321040" y="2971800"/>
              <a:ext cx="1645920" cy="50292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Text 28"/>
            <p:cNvSpPr txBox="1"/>
            <p:nvPr/>
          </p:nvSpPr>
          <p:spPr>
            <a:xfrm>
              <a:off x="8321040" y="2971800"/>
              <a:ext cx="1645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P2</a:t>
              </a:r>
              <a:endParaRPr lang="en-US" sz="14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9144000" y="3520440"/>
              <a:ext cx="914" cy="548640"/>
            </a:xfrm>
            <a:prstGeom prst="line">
              <a:avLst/>
            </a:prstGeom>
            <a:noFill/>
            <a:ln w="22225">
              <a:solidFill>
                <a:srgbClr val="4A585E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Shape 30"/>
            <p:cNvSpPr/>
            <p:nvPr/>
          </p:nvSpPr>
          <p:spPr>
            <a:xfrm>
              <a:off x="8321040" y="4160520"/>
              <a:ext cx="1645920" cy="502920"/>
            </a:xfrm>
            <a:prstGeom prst="rect">
              <a:avLst/>
            </a:prstGeom>
            <a:solidFill>
              <a:srgbClr val="070B0D"/>
            </a:solidFill>
            <a:ln w="127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Text 31"/>
            <p:cNvSpPr txBox="1"/>
            <p:nvPr/>
          </p:nvSpPr>
          <p:spPr>
            <a:xfrm>
              <a:off x="8321040" y="4160520"/>
              <a:ext cx="1645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M2</a:t>
              </a:r>
              <a:endParaRPr lang="en-US" sz="1400" dirty="0"/>
            </a:p>
          </p:txBody>
        </p:sp>
        <p:sp>
          <p:nvSpPr>
            <p:cNvPr id="34" name="Text 32"/>
            <p:cNvSpPr txBox="1"/>
            <p:nvPr/>
          </p:nvSpPr>
          <p:spPr>
            <a:xfrm>
              <a:off x="10332720" y="3081528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 · processadores lógicos</a:t>
              </a:r>
              <a:endParaRPr lang="en-US" sz="1000" dirty="0"/>
            </a:p>
          </p:txBody>
        </p:sp>
        <p:sp>
          <p:nvSpPr>
            <p:cNvPr id="35" name="Text 33"/>
            <p:cNvSpPr txBox="1"/>
            <p:nvPr/>
          </p:nvSpPr>
          <p:spPr>
            <a:xfrm>
              <a:off x="10332720" y="4270248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M · threads do SO</a:t>
              </a:r>
              <a:endParaRPr lang="en-US" sz="1000" dirty="0"/>
            </a:p>
          </p:txBody>
        </p:sp>
        <p:sp>
          <p:nvSpPr>
            <p:cNvPr id="36" name="Text 34"/>
            <p:cNvSpPr txBox="1"/>
            <p:nvPr/>
          </p:nvSpPr>
          <p:spPr>
            <a:xfrm>
              <a:off x="5486400" y="5029200"/>
              <a:ext cx="61264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500" dirty="0">
                  <a:solidFill>
                    <a:srgbClr val="8A979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Muitas goroutines multiplexadas sobre poucas threads do sistema (modelo G‑M‑P).</a:t>
              </a:r>
              <a:endParaRPr lang="en-US" sz="1500" dirty="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RUPTURA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Channels: comunicação nativa entre goroutines</a:t>
            </a:r>
            <a:endParaRPr lang="en-US" sz="3400" dirty="0"/>
          </a:p>
        </p:txBody>
      </p:sp>
      <p:grpSp>
        <p:nvGrpSpPr>
          <p:cNvPr id="24" name="Diagrama 1"/>
          <p:cNvGrpSpPr/>
          <p:nvPr/>
        </p:nvGrpSpPr>
        <p:grpSpPr>
          <a:xfrm>
            <a:off x="539496" y="1993392"/>
            <a:ext cx="6583680" cy="1847089"/>
            <a:chOff x="539496" y="1993392"/>
            <a:chExt cx="6583680" cy="1847089"/>
          </a:xfrm>
        </p:grpSpPr>
        <p:sp>
          <p:nvSpPr>
            <p:cNvPr id="6" name="Shape 4"/>
            <p:cNvSpPr/>
            <p:nvPr/>
          </p:nvSpPr>
          <p:spPr>
            <a:xfrm>
              <a:off x="539496" y="2027898"/>
              <a:ext cx="6583680" cy="96012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777240" y="1993392"/>
              <a:ext cx="6126480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2800" b="1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canal := make(chan int, 3)</a:t>
              </a:r>
              <a:endParaRPr lang="en-US" sz="2800" dirty="0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777240" y="3264409"/>
              <a:ext cx="5943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chan int → tipo dos valores transportados</a:t>
              </a:r>
              <a:endParaRPr lang="en-US" sz="1300" dirty="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777240" y="3566161"/>
              <a:ext cx="5943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3 → capacidade do buffer</a:t>
              </a:r>
              <a:endParaRPr lang="en-US" sz="1300" dirty="0"/>
            </a:p>
          </p:txBody>
        </p:sp>
      </p:grpSp>
      <p:sp>
        <p:nvSpPr>
          <p:cNvPr id="10" name="Text 8"/>
          <p:cNvSpPr txBox="1"/>
          <p:nvPr/>
        </p:nvSpPr>
        <p:spPr>
          <a:xfrm>
            <a:off x="548640" y="43662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canal envia e recebe valores de um tipo, com a sincronização embutida nas próprias operações.</a:t>
            </a:r>
            <a:endParaRPr lang="en-US" sz="1700" dirty="0"/>
          </a:p>
        </p:txBody>
      </p:sp>
      <p:grpSp>
        <p:nvGrpSpPr>
          <p:cNvPr id="25" name="Diagrama 2"/>
          <p:cNvGrpSpPr/>
          <p:nvPr/>
        </p:nvGrpSpPr>
        <p:grpSpPr>
          <a:xfrm>
            <a:off x="7566660" y="2034540"/>
            <a:ext cx="4046220" cy="1257300"/>
            <a:chOff x="7566660" y="2034540"/>
            <a:chExt cx="4046220" cy="1257300"/>
          </a:xfrm>
        </p:grpSpPr>
        <p:sp>
          <p:nvSpPr>
            <p:cNvPr id="11" name="Shape 9"/>
            <p:cNvSpPr/>
            <p:nvPr/>
          </p:nvSpPr>
          <p:spPr>
            <a:xfrm>
              <a:off x="7566660" y="2034540"/>
              <a:ext cx="594360" cy="59436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7566660" y="2034540"/>
              <a:ext cx="59436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G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8183880" y="2331720"/>
              <a:ext cx="365760" cy="914"/>
            </a:xfrm>
            <a:prstGeom prst="line">
              <a:avLst/>
            </a:prstGeom>
            <a:noFill/>
            <a:ln w="22225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Shape 12"/>
            <p:cNvSpPr/>
            <p:nvPr/>
          </p:nvSpPr>
          <p:spPr>
            <a:xfrm>
              <a:off x="8641080" y="2075688"/>
              <a:ext cx="457200" cy="51206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Shape 13"/>
            <p:cNvSpPr/>
            <p:nvPr/>
          </p:nvSpPr>
          <p:spPr>
            <a:xfrm>
              <a:off x="8750808" y="2212848"/>
              <a:ext cx="237744" cy="237744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Shape 14"/>
            <p:cNvSpPr/>
            <p:nvPr/>
          </p:nvSpPr>
          <p:spPr>
            <a:xfrm>
              <a:off x="9162288" y="2075688"/>
              <a:ext cx="457200" cy="51206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15"/>
            <p:cNvSpPr/>
            <p:nvPr/>
          </p:nvSpPr>
          <p:spPr>
            <a:xfrm>
              <a:off x="9272016" y="2212848"/>
              <a:ext cx="237744" cy="237744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Shape 16"/>
            <p:cNvSpPr/>
            <p:nvPr/>
          </p:nvSpPr>
          <p:spPr>
            <a:xfrm>
              <a:off x="9683496" y="2075688"/>
              <a:ext cx="457200" cy="51206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Shape 18"/>
            <p:cNvSpPr/>
            <p:nvPr/>
          </p:nvSpPr>
          <p:spPr>
            <a:xfrm>
              <a:off x="10158984" y="2331720"/>
              <a:ext cx="338328" cy="914"/>
            </a:xfrm>
            <a:prstGeom prst="line">
              <a:avLst/>
            </a:prstGeom>
            <a:noFill/>
            <a:ln w="22225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Shape 19"/>
            <p:cNvSpPr/>
            <p:nvPr/>
          </p:nvSpPr>
          <p:spPr>
            <a:xfrm>
              <a:off x="10497312" y="2057400"/>
              <a:ext cx="548640" cy="54864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10497312" y="205740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G</a:t>
              </a:r>
              <a:endParaRPr lang="en-US" sz="1600" dirty="0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7589520" y="3017520"/>
              <a:ext cx="4023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len(canal) = 2   cap(canal) = 3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RUPTURA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make(chan T, N) é o buffer limitado</a:t>
            </a:r>
            <a:endParaRPr lang="en-US" sz="3400" dirty="0"/>
          </a:p>
        </p:txBody>
      </p:sp>
      <p:grpSp>
        <p:nvGrpSpPr>
          <p:cNvPr id="29" name="Diagrama 1"/>
          <p:cNvGrpSpPr/>
          <p:nvPr/>
        </p:nvGrpSpPr>
        <p:grpSpPr>
          <a:xfrm>
            <a:off x="548640" y="1645920"/>
            <a:ext cx="11064240" cy="3337560"/>
            <a:chOff x="548640" y="1645920"/>
            <a:chExt cx="11064240" cy="3337560"/>
          </a:xfrm>
        </p:grpSpPr>
        <p:sp>
          <p:nvSpPr>
            <p:cNvPr id="6" name="Text 4"/>
            <p:cNvSpPr txBox="1"/>
            <p:nvPr/>
          </p:nvSpPr>
          <p:spPr>
            <a:xfrm>
              <a:off x="548640" y="164592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MODELO CLÁSSICO</a:t>
              </a:r>
              <a:endParaRPr lang="en-US" sz="1100" dirty="0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6035040" y="164592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EM GO</a:t>
              </a:r>
              <a:endParaRPr lang="en-US" sz="11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548640" y="1956816"/>
              <a:ext cx="11064240" cy="914"/>
            </a:xfrm>
            <a:prstGeom prst="line">
              <a:avLst/>
            </a:prstGeom>
            <a:noFill/>
            <a:ln w="9525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548640" y="2084832"/>
              <a:ext cx="45720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buffer[N]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846320" y="2267712"/>
              <a:ext cx="822960" cy="914"/>
            </a:xfrm>
            <a:prstGeom prst="line">
              <a:avLst/>
            </a:prstGeom>
            <a:noFill/>
            <a:ln w="22225">
              <a:solidFill>
                <a:srgbClr val="8A979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6035040" y="2084832"/>
              <a:ext cx="55778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700" dirty="0">
                  <a:solidFill>
                    <a:srgbClr val="3FC8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capacidade N do canal</a:t>
              </a:r>
              <a:endParaRPr lang="en-US" sz="17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48640" y="2578608"/>
              <a:ext cx="11064240" cy="914"/>
            </a:xfrm>
            <a:prstGeom prst="line">
              <a:avLst/>
            </a:prstGeom>
            <a:noFill/>
            <a:ln w="9525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548640" y="2706624"/>
              <a:ext cx="45720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count</a:t>
              </a:r>
              <a:endParaRPr lang="en-US" sz="16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846320" y="2889504"/>
              <a:ext cx="822960" cy="914"/>
            </a:xfrm>
            <a:prstGeom prst="line">
              <a:avLst/>
            </a:prstGeom>
            <a:noFill/>
            <a:ln w="22225">
              <a:solidFill>
                <a:srgbClr val="8A979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6035040" y="2706624"/>
              <a:ext cx="55778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700" dirty="0">
                  <a:solidFill>
                    <a:srgbClr val="3FC8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len(canal)</a:t>
              </a:r>
              <a:endParaRPr lang="en-US" sz="17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48640" y="3200400"/>
              <a:ext cx="11064240" cy="914"/>
            </a:xfrm>
            <a:prstGeom prst="line">
              <a:avLst/>
            </a:prstGeom>
            <a:noFill/>
            <a:ln w="9525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548640" y="3328416"/>
              <a:ext cx="45720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in, out</a:t>
              </a:r>
              <a:endParaRPr lang="en-US" sz="16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846320" y="3511296"/>
              <a:ext cx="822960" cy="914"/>
            </a:xfrm>
            <a:prstGeom prst="line">
              <a:avLst/>
            </a:prstGeom>
            <a:noFill/>
            <a:ln w="22225">
              <a:solidFill>
                <a:srgbClr val="8A979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6035040" y="3328416"/>
              <a:ext cx="55778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700" dirty="0">
                  <a:solidFill>
                    <a:srgbClr val="3FC8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índices controlados pelo runtime</a:t>
              </a:r>
              <a:endParaRPr lang="en-US" sz="17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548640" y="3822192"/>
              <a:ext cx="11064240" cy="914"/>
            </a:xfrm>
            <a:prstGeom prst="line">
              <a:avLst/>
            </a:prstGeom>
            <a:noFill/>
            <a:ln w="9525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548640" y="3950208"/>
              <a:ext cx="45720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mutex</a:t>
              </a:r>
              <a:endParaRPr lang="en-US" sz="16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846320" y="4133088"/>
              <a:ext cx="822960" cy="914"/>
            </a:xfrm>
            <a:prstGeom prst="line">
              <a:avLst/>
            </a:prstGeom>
            <a:noFill/>
            <a:ln w="22225">
              <a:solidFill>
                <a:srgbClr val="8A979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6035040" y="3950208"/>
              <a:ext cx="55778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700" dirty="0">
                  <a:solidFill>
                    <a:srgbClr val="3FC8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trava interna do runtime</a:t>
              </a:r>
              <a:endParaRPr lang="en-US" sz="17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548640" y="4443984"/>
              <a:ext cx="11064240" cy="914"/>
            </a:xfrm>
            <a:prstGeom prst="line">
              <a:avLst/>
            </a:prstGeom>
            <a:noFill/>
            <a:ln w="9525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548640" y="4572000"/>
              <a:ext cx="45720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semáforos empty / full</a:t>
              </a:r>
              <a:endParaRPr lang="en-US" sz="16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4846320" y="4754880"/>
              <a:ext cx="822960" cy="914"/>
            </a:xfrm>
            <a:prstGeom prst="line">
              <a:avLst/>
            </a:prstGeom>
            <a:noFill/>
            <a:ln w="22225">
              <a:solidFill>
                <a:srgbClr val="8A979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6035040" y="4572000"/>
              <a:ext cx="55778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700" dirty="0">
                  <a:solidFill>
                    <a:srgbClr val="3FC8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bloqueio embutido em canal &lt;- item e &lt;-canal</a:t>
              </a:r>
              <a:endParaRPr lang="en-US" sz="1700" dirty="0"/>
            </a:p>
          </p:txBody>
        </p:sp>
      </p:grpSp>
      <p:sp>
        <p:nvSpPr>
          <p:cNvPr id="28" name="Text 26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i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o que o programador coordenava à mão passa a ser propriedade da estrutura.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RUPTURA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Envio bloqueado: canal cheio</a:t>
            </a:r>
            <a:endParaRPr lang="en-US" sz="3400" dirty="0"/>
          </a:p>
        </p:txBody>
      </p:sp>
      <p:grpSp>
        <p:nvGrpSpPr>
          <p:cNvPr id="56" name="Diagrama 1"/>
          <p:cNvGrpSpPr/>
          <p:nvPr/>
        </p:nvGrpSpPr>
        <p:grpSpPr>
          <a:xfrm>
            <a:off x="548640" y="1783080"/>
            <a:ext cx="11064240" cy="3931920"/>
            <a:chOff x="548640" y="1783080"/>
            <a:chExt cx="11064240" cy="3931920"/>
          </a:xfrm>
        </p:grpSpPr>
        <p:sp>
          <p:nvSpPr>
            <p:cNvPr id="6" name="Shape 4"/>
            <p:cNvSpPr/>
            <p:nvPr/>
          </p:nvSpPr>
          <p:spPr>
            <a:xfrm>
              <a:off x="548640" y="1783080"/>
              <a:ext cx="3520440" cy="251460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731520" y="192024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</a:t>
              </a:r>
              <a:endParaRPr lang="en-US" sz="11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731520" y="2514600"/>
              <a:ext cx="457200" cy="45720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731520" y="25146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3A3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</a:t>
              </a:r>
              <a:endParaRPr lang="en-US" sz="13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463040" y="2633472"/>
              <a:ext cx="219456" cy="219456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9"/>
            <p:cNvSpPr/>
            <p:nvPr/>
          </p:nvSpPr>
          <p:spPr>
            <a:xfrm>
              <a:off x="1956816" y="2532888"/>
              <a:ext cx="365760" cy="42062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Shape 10"/>
            <p:cNvSpPr/>
            <p:nvPr/>
          </p:nvSpPr>
          <p:spPr>
            <a:xfrm>
              <a:off x="2044598" y="2648102"/>
              <a:ext cx="190195" cy="190195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11"/>
            <p:cNvSpPr/>
            <p:nvPr/>
          </p:nvSpPr>
          <p:spPr>
            <a:xfrm>
              <a:off x="2377440" y="2532888"/>
              <a:ext cx="365760" cy="42062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Shape 12"/>
            <p:cNvSpPr/>
            <p:nvPr/>
          </p:nvSpPr>
          <p:spPr>
            <a:xfrm>
              <a:off x="2465222" y="2648102"/>
              <a:ext cx="190195" cy="190195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Shape 13"/>
            <p:cNvSpPr/>
            <p:nvPr/>
          </p:nvSpPr>
          <p:spPr>
            <a:xfrm>
              <a:off x="2798064" y="2532888"/>
              <a:ext cx="365760" cy="42062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Shape 14"/>
            <p:cNvSpPr/>
            <p:nvPr/>
          </p:nvSpPr>
          <p:spPr>
            <a:xfrm>
              <a:off x="2885846" y="2648102"/>
              <a:ext cx="190195" cy="190195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Shape 17"/>
            <p:cNvSpPr/>
            <p:nvPr/>
          </p:nvSpPr>
          <p:spPr>
            <a:xfrm>
              <a:off x="3447288" y="2514600"/>
              <a:ext cx="457200" cy="45720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3447288" y="25146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</a:t>
              </a:r>
              <a:endParaRPr lang="en-US" sz="1300" dirty="0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731520" y="3291840"/>
              <a:ext cx="315468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400" dirty="0">
                  <a:solidFill>
                    <a:srgbClr val="E3A3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Canal cheio: o envio suspende a goroutine produtora.</a:t>
              </a:r>
              <a:endParaRPr lang="en-US" sz="14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297680" y="1783080"/>
              <a:ext cx="3520440" cy="251460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4480560" y="192024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2</a:t>
              </a:r>
              <a:endParaRPr lang="en-US" sz="11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480560" y="2514600"/>
              <a:ext cx="457200" cy="45720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4480560" y="25146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3A3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</a:t>
              </a:r>
              <a:endParaRPr lang="en-US" sz="13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212080" y="2633472"/>
              <a:ext cx="219456" cy="219456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Shape 25"/>
            <p:cNvSpPr/>
            <p:nvPr/>
          </p:nvSpPr>
          <p:spPr>
            <a:xfrm>
              <a:off x="5705856" y="2532888"/>
              <a:ext cx="365760" cy="42062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Shape 26"/>
            <p:cNvSpPr/>
            <p:nvPr/>
          </p:nvSpPr>
          <p:spPr>
            <a:xfrm>
              <a:off x="5793638" y="2648102"/>
              <a:ext cx="190195" cy="190195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Shape 27"/>
            <p:cNvSpPr/>
            <p:nvPr/>
          </p:nvSpPr>
          <p:spPr>
            <a:xfrm>
              <a:off x="6126480" y="2532888"/>
              <a:ext cx="365760" cy="42062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Shape 28"/>
            <p:cNvSpPr/>
            <p:nvPr/>
          </p:nvSpPr>
          <p:spPr>
            <a:xfrm>
              <a:off x="6214262" y="2648102"/>
              <a:ext cx="190195" cy="190195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Shape 29"/>
            <p:cNvSpPr/>
            <p:nvPr/>
          </p:nvSpPr>
          <p:spPr>
            <a:xfrm>
              <a:off x="6547104" y="2532888"/>
              <a:ext cx="365760" cy="42062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Shape 32"/>
            <p:cNvSpPr/>
            <p:nvPr/>
          </p:nvSpPr>
          <p:spPr>
            <a:xfrm>
              <a:off x="7324344" y="2231136"/>
              <a:ext cx="201168" cy="20116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Shape 33"/>
            <p:cNvSpPr/>
            <p:nvPr/>
          </p:nvSpPr>
          <p:spPr>
            <a:xfrm>
              <a:off x="7196328" y="2514600"/>
              <a:ext cx="457200" cy="45720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Text 34"/>
            <p:cNvSpPr txBox="1"/>
            <p:nvPr/>
          </p:nvSpPr>
          <p:spPr>
            <a:xfrm>
              <a:off x="7196328" y="25146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</a:t>
              </a:r>
              <a:endParaRPr lang="en-US" sz="1300" dirty="0"/>
            </a:p>
          </p:txBody>
        </p:sp>
        <p:sp>
          <p:nvSpPr>
            <p:cNvPr id="37" name="Text 35"/>
            <p:cNvSpPr txBox="1"/>
            <p:nvPr/>
          </p:nvSpPr>
          <p:spPr>
            <a:xfrm>
              <a:off x="4480560" y="3291840"/>
              <a:ext cx="315468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400" dirty="0">
                  <a:solidFill>
                    <a:srgbClr val="C3CCC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consumidor recebe um valor e abre uma posição.</a:t>
              </a:r>
              <a:endParaRPr lang="en-US" sz="14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8046720" y="1783080"/>
              <a:ext cx="3520440" cy="251460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Text 37"/>
            <p:cNvSpPr txBox="1"/>
            <p:nvPr/>
          </p:nvSpPr>
          <p:spPr>
            <a:xfrm>
              <a:off x="8229600" y="192024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3</a:t>
              </a:r>
              <a:endParaRPr lang="en-US" sz="11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8229600" y="2514600"/>
              <a:ext cx="457200" cy="45720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Text 39"/>
            <p:cNvSpPr txBox="1"/>
            <p:nvPr/>
          </p:nvSpPr>
          <p:spPr>
            <a:xfrm>
              <a:off x="8229600" y="25146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</a:t>
              </a:r>
              <a:endParaRPr lang="en-US" sz="13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9454896" y="2532888"/>
              <a:ext cx="365760" cy="42062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Shape 41"/>
            <p:cNvSpPr/>
            <p:nvPr/>
          </p:nvSpPr>
          <p:spPr>
            <a:xfrm>
              <a:off x="9542678" y="2648102"/>
              <a:ext cx="190195" cy="190195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Shape 42"/>
            <p:cNvSpPr/>
            <p:nvPr/>
          </p:nvSpPr>
          <p:spPr>
            <a:xfrm>
              <a:off x="9875520" y="2532888"/>
              <a:ext cx="365760" cy="42062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Shape 43"/>
            <p:cNvSpPr/>
            <p:nvPr/>
          </p:nvSpPr>
          <p:spPr>
            <a:xfrm>
              <a:off x="9963302" y="2648102"/>
              <a:ext cx="190195" cy="190195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Shape 44"/>
            <p:cNvSpPr/>
            <p:nvPr/>
          </p:nvSpPr>
          <p:spPr>
            <a:xfrm>
              <a:off x="10296144" y="2532888"/>
              <a:ext cx="365760" cy="42062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Shape 45"/>
            <p:cNvSpPr/>
            <p:nvPr/>
          </p:nvSpPr>
          <p:spPr>
            <a:xfrm>
              <a:off x="10383926" y="2648102"/>
              <a:ext cx="190195" cy="190195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Shape 48"/>
            <p:cNvSpPr/>
            <p:nvPr/>
          </p:nvSpPr>
          <p:spPr>
            <a:xfrm>
              <a:off x="10945368" y="2514600"/>
              <a:ext cx="457200" cy="45720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Text 49"/>
            <p:cNvSpPr txBox="1"/>
            <p:nvPr/>
          </p:nvSpPr>
          <p:spPr>
            <a:xfrm>
              <a:off x="10945368" y="25146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</a:t>
              </a:r>
              <a:endParaRPr lang="en-US" sz="1300" dirty="0"/>
            </a:p>
          </p:txBody>
        </p:sp>
        <p:sp>
          <p:nvSpPr>
            <p:cNvPr id="52" name="Text 50"/>
            <p:cNvSpPr txBox="1"/>
            <p:nvPr/>
          </p:nvSpPr>
          <p:spPr>
            <a:xfrm>
              <a:off x="8229600" y="3291840"/>
              <a:ext cx="315468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400" dirty="0">
                  <a:solidFill>
                    <a:srgbClr val="E8ED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envio prossegue automaticamente.</a:t>
              </a:r>
              <a:endParaRPr lang="en-US" sz="140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548640" y="4617720"/>
              <a:ext cx="3520440" cy="59436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" name="Text 52"/>
            <p:cNvSpPr txBox="1"/>
            <p:nvPr/>
          </p:nvSpPr>
          <p:spPr>
            <a:xfrm>
              <a:off x="777240" y="4782312"/>
              <a:ext cx="3063240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800" b="1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canal &lt;- item</a:t>
              </a:r>
              <a:endParaRPr lang="en-US" sz="1800" dirty="0"/>
            </a:p>
          </p:txBody>
        </p:sp>
        <p:sp>
          <p:nvSpPr>
            <p:cNvPr id="55" name="Text 53"/>
            <p:cNvSpPr txBox="1"/>
            <p:nvPr/>
          </p:nvSpPr>
          <p:spPr>
            <a:xfrm>
              <a:off x="4297680" y="4617720"/>
              <a:ext cx="73152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600" dirty="0">
                  <a:solidFill>
                    <a:srgbClr val="C3CCC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bloqueio é um comportamento da própria operação — não há flag para testar nem laço de espera para escrever.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RUPTURA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Recebimento bloqueado: canal vazio</a:t>
            </a:r>
            <a:endParaRPr lang="en-US" sz="3400" dirty="0"/>
          </a:p>
        </p:txBody>
      </p:sp>
      <p:grpSp>
        <p:nvGrpSpPr>
          <p:cNvPr id="44" name="Diagrama 1"/>
          <p:cNvGrpSpPr/>
          <p:nvPr/>
        </p:nvGrpSpPr>
        <p:grpSpPr>
          <a:xfrm>
            <a:off x="548640" y="1783080"/>
            <a:ext cx="11018520" cy="3429000"/>
            <a:chOff x="548640" y="1783080"/>
            <a:chExt cx="11018520" cy="3429000"/>
          </a:xfrm>
        </p:grpSpPr>
        <p:sp>
          <p:nvSpPr>
            <p:cNvPr id="6" name="Shape 4"/>
            <p:cNvSpPr/>
            <p:nvPr/>
          </p:nvSpPr>
          <p:spPr>
            <a:xfrm>
              <a:off x="548640" y="1783080"/>
              <a:ext cx="3520440" cy="251460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731520" y="192024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</a:t>
              </a:r>
              <a:endParaRPr lang="en-US" sz="11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731520" y="2514600"/>
              <a:ext cx="457200" cy="45720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731520" y="25146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</a:t>
              </a:r>
              <a:endParaRPr lang="en-US" sz="13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956816" y="2532888"/>
              <a:ext cx="365760" cy="42062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9"/>
            <p:cNvSpPr/>
            <p:nvPr/>
          </p:nvSpPr>
          <p:spPr>
            <a:xfrm>
              <a:off x="2377440" y="2532888"/>
              <a:ext cx="365760" cy="42062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Shape 10"/>
            <p:cNvSpPr/>
            <p:nvPr/>
          </p:nvSpPr>
          <p:spPr>
            <a:xfrm>
              <a:off x="2798064" y="2532888"/>
              <a:ext cx="365760" cy="42062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Shape 12"/>
            <p:cNvSpPr/>
            <p:nvPr/>
          </p:nvSpPr>
          <p:spPr>
            <a:xfrm>
              <a:off x="3447288" y="2514600"/>
              <a:ext cx="457200" cy="45720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3447288" y="25146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3A3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</a:t>
              </a:r>
              <a:endParaRPr lang="en-US" sz="1300" dirty="0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731520" y="3291840"/>
              <a:ext cx="315468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400" dirty="0">
                  <a:solidFill>
                    <a:srgbClr val="E3A3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Canal vazio: o recebimento suspende a goroutine consumidora.</a:t>
              </a:r>
              <a:endParaRPr lang="en-US" sz="14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297680" y="1783080"/>
              <a:ext cx="3520440" cy="251460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4480560" y="192024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2</a:t>
              </a:r>
              <a:endParaRPr lang="en-US" sz="11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480560" y="2514600"/>
              <a:ext cx="457200" cy="45720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4480560" y="25146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</a:t>
              </a:r>
              <a:endParaRPr lang="en-US" sz="13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705856" y="2532888"/>
              <a:ext cx="365760" cy="42062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Shape 20"/>
            <p:cNvSpPr/>
            <p:nvPr/>
          </p:nvSpPr>
          <p:spPr>
            <a:xfrm>
              <a:off x="5793638" y="2648102"/>
              <a:ext cx="190195" cy="190195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Shape 21"/>
            <p:cNvSpPr/>
            <p:nvPr/>
          </p:nvSpPr>
          <p:spPr>
            <a:xfrm>
              <a:off x="6126480" y="2532888"/>
              <a:ext cx="365760" cy="42062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Shape 22"/>
            <p:cNvSpPr/>
            <p:nvPr/>
          </p:nvSpPr>
          <p:spPr>
            <a:xfrm>
              <a:off x="6547104" y="2532888"/>
              <a:ext cx="365760" cy="42062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Shape 24"/>
            <p:cNvSpPr/>
            <p:nvPr/>
          </p:nvSpPr>
          <p:spPr>
            <a:xfrm>
              <a:off x="7196328" y="2514600"/>
              <a:ext cx="457200" cy="45720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7196328" y="25146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3A3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</a:t>
              </a:r>
              <a:endParaRPr lang="en-US" sz="1300" dirty="0"/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4480560" y="3291840"/>
              <a:ext cx="315468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400" dirty="0">
                  <a:solidFill>
                    <a:srgbClr val="C3CCC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produtor envia um valor.</a:t>
              </a:r>
              <a:endParaRPr lang="en-US" sz="14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8046720" y="1783080"/>
              <a:ext cx="3520440" cy="251460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Text 28"/>
            <p:cNvSpPr txBox="1"/>
            <p:nvPr/>
          </p:nvSpPr>
          <p:spPr>
            <a:xfrm>
              <a:off x="8229600" y="192024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3</a:t>
              </a:r>
              <a:endParaRPr lang="en-US" sz="11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8229600" y="2514600"/>
              <a:ext cx="457200" cy="45720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Text 30"/>
            <p:cNvSpPr txBox="1"/>
            <p:nvPr/>
          </p:nvSpPr>
          <p:spPr>
            <a:xfrm>
              <a:off x="8229600" y="25146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</a:t>
              </a:r>
              <a:endParaRPr lang="en-US" sz="13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9454896" y="2532888"/>
              <a:ext cx="365760" cy="42062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Shape 32"/>
            <p:cNvSpPr/>
            <p:nvPr/>
          </p:nvSpPr>
          <p:spPr>
            <a:xfrm>
              <a:off x="9875520" y="2532888"/>
              <a:ext cx="365760" cy="42062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Shape 33"/>
            <p:cNvSpPr/>
            <p:nvPr/>
          </p:nvSpPr>
          <p:spPr>
            <a:xfrm>
              <a:off x="10296144" y="2532888"/>
              <a:ext cx="365760" cy="420624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Shape 35"/>
            <p:cNvSpPr/>
            <p:nvPr/>
          </p:nvSpPr>
          <p:spPr>
            <a:xfrm>
              <a:off x="11073384" y="2231136"/>
              <a:ext cx="201168" cy="20116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Shape 36"/>
            <p:cNvSpPr/>
            <p:nvPr/>
          </p:nvSpPr>
          <p:spPr>
            <a:xfrm>
              <a:off x="10945368" y="2514600"/>
              <a:ext cx="457200" cy="45720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Text 37"/>
            <p:cNvSpPr txBox="1"/>
            <p:nvPr/>
          </p:nvSpPr>
          <p:spPr>
            <a:xfrm>
              <a:off x="10945368" y="25146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</a:t>
              </a:r>
              <a:endParaRPr lang="en-US" sz="1300" dirty="0"/>
            </a:p>
          </p:txBody>
        </p:sp>
        <p:sp>
          <p:nvSpPr>
            <p:cNvPr id="40" name="Text 38"/>
            <p:cNvSpPr txBox="1"/>
            <p:nvPr/>
          </p:nvSpPr>
          <p:spPr>
            <a:xfrm>
              <a:off x="8229600" y="3291840"/>
              <a:ext cx="315468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400" dirty="0">
                  <a:solidFill>
                    <a:srgbClr val="E8ED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recebimento prossegue com o valor.</a:t>
              </a:r>
              <a:endParaRPr lang="en-US" sz="14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548640" y="4617720"/>
              <a:ext cx="3520440" cy="59436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Text 40"/>
            <p:cNvSpPr txBox="1"/>
            <p:nvPr/>
          </p:nvSpPr>
          <p:spPr>
            <a:xfrm>
              <a:off x="777240" y="4782312"/>
              <a:ext cx="3063240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800" b="1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item := &lt;-canal</a:t>
              </a:r>
              <a:endParaRPr lang="en-US" sz="1800" dirty="0"/>
            </a:p>
          </p:txBody>
        </p:sp>
      </p:grpSp>
      <p:sp>
        <p:nvSpPr>
          <p:cNvPr id="43" name="Text 41"/>
          <p:cNvSpPr txBox="1"/>
          <p:nvPr/>
        </p:nvSpPr>
        <p:spPr>
          <a:xfrm>
            <a:off x="4297680" y="4617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Simetria com o caso anterior. Em um canal sem buffer, make(chan T), envio e recebimento precisam se encontrar — o rendezvous do CSP original.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RUPTURA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e range: o ciclo de vida do canal</a:t>
            </a:r>
            <a:endParaRPr lang="en-US" sz="3400" dirty="0"/>
          </a:p>
        </p:txBody>
      </p:sp>
      <p:grpSp>
        <p:nvGrpSpPr>
          <p:cNvPr id="22" name="Diagrama 1"/>
          <p:cNvGrpSpPr/>
          <p:nvPr/>
        </p:nvGrpSpPr>
        <p:grpSpPr>
          <a:xfrm>
            <a:off x="731520" y="1874520"/>
            <a:ext cx="10698480" cy="1371600"/>
            <a:chOff x="731520" y="1874520"/>
            <a:chExt cx="10698480" cy="1371600"/>
          </a:xfrm>
        </p:grpSpPr>
        <p:sp>
          <p:nvSpPr>
            <p:cNvPr id="6" name="Shape 4"/>
            <p:cNvSpPr/>
            <p:nvPr/>
          </p:nvSpPr>
          <p:spPr>
            <a:xfrm>
              <a:off x="731520" y="2377440"/>
              <a:ext cx="10698480" cy="914"/>
            </a:xfrm>
            <a:prstGeom prst="line">
              <a:avLst/>
            </a:prstGeom>
            <a:noFill/>
            <a:ln w="15875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Shape 5"/>
            <p:cNvSpPr/>
            <p:nvPr/>
          </p:nvSpPr>
          <p:spPr>
            <a:xfrm>
              <a:off x="969264" y="2249424"/>
              <a:ext cx="256032" cy="256032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Shape 6"/>
            <p:cNvSpPr/>
            <p:nvPr/>
          </p:nvSpPr>
          <p:spPr>
            <a:xfrm>
              <a:off x="1609344" y="2249424"/>
              <a:ext cx="256032" cy="256032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Shape 7"/>
            <p:cNvSpPr/>
            <p:nvPr/>
          </p:nvSpPr>
          <p:spPr>
            <a:xfrm>
              <a:off x="2249424" y="2249424"/>
              <a:ext cx="256032" cy="256032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Shape 8"/>
            <p:cNvSpPr/>
            <p:nvPr/>
          </p:nvSpPr>
          <p:spPr>
            <a:xfrm>
              <a:off x="2889504" y="2249424"/>
              <a:ext cx="256032" cy="256032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9"/>
            <p:cNvSpPr/>
            <p:nvPr/>
          </p:nvSpPr>
          <p:spPr>
            <a:xfrm>
              <a:off x="4206240" y="1874520"/>
              <a:ext cx="73152" cy="1005840"/>
            </a:xfrm>
            <a:prstGeom prst="rect">
              <a:avLst/>
            </a:prstGeom>
            <a:solidFill>
              <a:srgbClr val="E3A33B"/>
            </a:solidFill>
            <a:ln w="127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Shape 10"/>
            <p:cNvSpPr/>
            <p:nvPr/>
          </p:nvSpPr>
          <p:spPr>
            <a:xfrm>
              <a:off x="5358384" y="2249424"/>
              <a:ext cx="256032" cy="256032"/>
            </a:xfrm>
            <a:prstGeom prst="ellipse">
              <a:avLst/>
            </a:prstGeom>
            <a:solidFill>
              <a:srgbClr val="8A979C"/>
            </a:solidFill>
            <a:ln w="12700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11"/>
            <p:cNvSpPr/>
            <p:nvPr/>
          </p:nvSpPr>
          <p:spPr>
            <a:xfrm>
              <a:off x="5998464" y="2249424"/>
              <a:ext cx="256032" cy="256032"/>
            </a:xfrm>
            <a:prstGeom prst="ellipse">
              <a:avLst/>
            </a:prstGeom>
            <a:solidFill>
              <a:srgbClr val="8A979C"/>
            </a:solidFill>
            <a:ln w="12700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Shape 12"/>
            <p:cNvSpPr/>
            <p:nvPr/>
          </p:nvSpPr>
          <p:spPr>
            <a:xfrm>
              <a:off x="8503920" y="1874520"/>
              <a:ext cx="73152" cy="1005840"/>
            </a:xfrm>
            <a:prstGeom prst="rect">
              <a:avLst/>
            </a:prstGeom>
            <a:solidFill>
              <a:srgbClr val="E8EDEE"/>
            </a:solidFill>
            <a:ln w="127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731520" y="2971800"/>
              <a:ext cx="3017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itens enviados</a:t>
              </a:r>
              <a:endParaRPr lang="en-US" sz="1100" dirty="0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3657600" y="2971800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close(canal)</a:t>
              </a:r>
              <a:endParaRPr lang="en-US" sz="110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4937760" y="2971800"/>
              <a:ext cx="3108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range drena o que restou</a:t>
              </a:r>
              <a:endParaRPr lang="en-US" sz="110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7955280" y="2971800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laço encerra</a:t>
              </a:r>
              <a:endParaRPr lang="en-US" sz="1100" dirty="0"/>
            </a:p>
          </p:txBody>
        </p:sp>
      </p:grpSp>
      <p:grpSp>
        <p:nvGrpSpPr>
          <p:cNvPr id="23" name="Diagrama 2"/>
          <p:cNvGrpSpPr/>
          <p:nvPr/>
        </p:nvGrpSpPr>
        <p:grpSpPr>
          <a:xfrm>
            <a:off x="548640" y="3749040"/>
            <a:ext cx="4754880" cy="1188720"/>
            <a:chOff x="548640" y="3749040"/>
            <a:chExt cx="4754880" cy="1188720"/>
          </a:xfrm>
        </p:grpSpPr>
        <p:sp>
          <p:nvSpPr>
            <p:cNvPr id="19" name="Shape 17"/>
            <p:cNvSpPr/>
            <p:nvPr/>
          </p:nvSpPr>
          <p:spPr>
            <a:xfrm>
              <a:off x="548640" y="3749040"/>
              <a:ext cx="4754880" cy="118872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777240" y="3913632"/>
              <a:ext cx="4297680" cy="8595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7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for item := range canal {</a:t>
              </a:r>
              <a:endParaRPr lang="en-US" sz="17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7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processar(item)</a:t>
              </a:r>
              <a:endParaRPr lang="en-US" sz="17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7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}</a:t>
              </a:r>
              <a:endParaRPr lang="en-US" sz="1700" dirty="0"/>
            </a:p>
          </p:txBody>
        </p:sp>
      </p:grpSp>
      <p:sp>
        <p:nvSpPr>
          <p:cNvPr id="21" name="Text 19"/>
          <p:cNvSpPr txBox="1"/>
          <p:nvPr/>
        </p:nvSpPr>
        <p:spPr>
          <a:xfrm>
            <a:off x="5760720" y="374904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3A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 </a:t>
            </a:r>
            <a:r>
              <a:rPr lang="en-US" sz="1600" dirty="0">
                <a:solidFill>
                  <a:srgbClr val="E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 que não haverá mais envios.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 </a:t>
            </a:r>
            <a:r>
              <a:rPr lang="en-US" sz="1600" dirty="0">
                <a:solidFill>
                  <a:srgbClr val="E8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consome até o canal fechar e esvaziar.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para um canal fechado causa panic — por isso, em geral, quem fecha é o produtor.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RUPTURA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29317" y="6355080"/>
            <a:ext cx="5325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Direção do canal como contrato</a:t>
            </a:r>
            <a:endParaRPr lang="en-US" sz="3400" dirty="0"/>
          </a:p>
        </p:txBody>
      </p:sp>
      <p:grpSp>
        <p:nvGrpSpPr>
          <p:cNvPr id="26" name="Diagrama 2"/>
          <p:cNvGrpSpPr/>
          <p:nvPr/>
        </p:nvGrpSpPr>
        <p:grpSpPr>
          <a:xfrm>
            <a:off x="548640" y="2880360"/>
            <a:ext cx="6035040" cy="960120"/>
            <a:chOff x="548640" y="2880360"/>
            <a:chExt cx="6035040" cy="960120"/>
          </a:xfrm>
        </p:grpSpPr>
        <p:sp>
          <p:nvSpPr>
            <p:cNvPr id="14" name="Shape 12"/>
            <p:cNvSpPr/>
            <p:nvPr/>
          </p:nvSpPr>
          <p:spPr>
            <a:xfrm>
              <a:off x="548640" y="2880360"/>
              <a:ext cx="6035040" cy="96012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777240" y="3044952"/>
              <a:ext cx="5577840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700" b="1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func consumidor(id int, canal &lt;-chan int,</a:t>
              </a:r>
              <a:endParaRPr lang="en-US" sz="17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700" b="1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grupo *sync.WaitGroup)</a:t>
              </a:r>
              <a:endParaRPr lang="en-US" sz="1700" dirty="0"/>
            </a:p>
          </p:txBody>
        </p:sp>
      </p:grpSp>
      <p:grpSp>
        <p:nvGrpSpPr>
          <p:cNvPr id="25" name="Diagrama 1"/>
          <p:cNvGrpSpPr/>
          <p:nvPr/>
        </p:nvGrpSpPr>
        <p:grpSpPr>
          <a:xfrm>
            <a:off x="548640" y="1828800"/>
            <a:ext cx="10972800" cy="2148840"/>
            <a:chOff x="548640" y="1828800"/>
            <a:chExt cx="10972800" cy="2148840"/>
          </a:xfrm>
        </p:grpSpPr>
        <p:sp>
          <p:nvSpPr>
            <p:cNvPr id="6" name="Shape 4"/>
            <p:cNvSpPr/>
            <p:nvPr/>
          </p:nvSpPr>
          <p:spPr>
            <a:xfrm>
              <a:off x="548640" y="1828800"/>
              <a:ext cx="6035040" cy="68580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777240" y="1993392"/>
              <a:ext cx="5577840" cy="3566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700" b="1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func produtor(canal chan&lt;- int)</a:t>
              </a:r>
              <a:endParaRPr lang="en-US" sz="17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6949440" y="2167128"/>
              <a:ext cx="1097280" cy="914"/>
            </a:xfrm>
            <a:prstGeom prst="line">
              <a:avLst/>
            </a:prstGeom>
            <a:noFill/>
            <a:ln w="31750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Shape 7"/>
            <p:cNvSpPr/>
            <p:nvPr/>
          </p:nvSpPr>
          <p:spPr>
            <a:xfrm>
              <a:off x="8138160" y="1920240"/>
              <a:ext cx="411480" cy="47548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Shape 8"/>
            <p:cNvSpPr/>
            <p:nvPr/>
          </p:nvSpPr>
          <p:spPr>
            <a:xfrm>
              <a:off x="8236915" y="2050999"/>
              <a:ext cx="213970" cy="21397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9"/>
            <p:cNvSpPr/>
            <p:nvPr/>
          </p:nvSpPr>
          <p:spPr>
            <a:xfrm>
              <a:off x="8604504" y="1920240"/>
              <a:ext cx="411480" cy="47548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Shape 10"/>
            <p:cNvSpPr/>
            <p:nvPr/>
          </p:nvSpPr>
          <p:spPr>
            <a:xfrm>
              <a:off x="9070848" y="1920240"/>
              <a:ext cx="411480" cy="47548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7498080" y="2514600"/>
              <a:ext cx="4023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somente envio</a:t>
              </a:r>
              <a:endParaRPr lang="en-US" sz="11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8138160" y="3108960"/>
              <a:ext cx="411480" cy="47548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15"/>
            <p:cNvSpPr/>
            <p:nvPr/>
          </p:nvSpPr>
          <p:spPr>
            <a:xfrm>
              <a:off x="8236915" y="3239719"/>
              <a:ext cx="213970" cy="213970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Shape 16"/>
            <p:cNvSpPr/>
            <p:nvPr/>
          </p:nvSpPr>
          <p:spPr>
            <a:xfrm>
              <a:off x="8604504" y="3108960"/>
              <a:ext cx="411480" cy="47548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Shape 17"/>
            <p:cNvSpPr/>
            <p:nvPr/>
          </p:nvSpPr>
          <p:spPr>
            <a:xfrm>
              <a:off x="9070848" y="3108960"/>
              <a:ext cx="411480" cy="475488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Shape 18"/>
            <p:cNvSpPr/>
            <p:nvPr/>
          </p:nvSpPr>
          <p:spPr>
            <a:xfrm>
              <a:off x="9509760" y="3355848"/>
              <a:ext cx="1097280" cy="914"/>
            </a:xfrm>
            <a:prstGeom prst="line">
              <a:avLst/>
            </a:prstGeom>
            <a:noFill/>
            <a:ln w="31750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7498080" y="3703320"/>
              <a:ext cx="4023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somente recebimento</a:t>
              </a:r>
              <a:endParaRPr lang="en-US" sz="1100" dirty="0"/>
            </a:p>
          </p:txBody>
        </p:sp>
      </p:grpSp>
      <p:grpSp>
        <p:nvGrpSpPr>
          <p:cNvPr id="27" name="Diagrama 3"/>
          <p:cNvGrpSpPr/>
          <p:nvPr/>
        </p:nvGrpSpPr>
        <p:grpSpPr>
          <a:xfrm>
            <a:off x="548640" y="4343400"/>
            <a:ext cx="6035040" cy="1005840"/>
            <a:chOff x="548640" y="4343400"/>
            <a:chExt cx="6035040" cy="1005840"/>
          </a:xfrm>
        </p:grpSpPr>
        <p:sp>
          <p:nvSpPr>
            <p:cNvPr id="22" name="Shape 20"/>
            <p:cNvSpPr/>
            <p:nvPr/>
          </p:nvSpPr>
          <p:spPr>
            <a:xfrm>
              <a:off x="548640" y="4343400"/>
              <a:ext cx="6035040" cy="100584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777240" y="4507992"/>
              <a:ext cx="557784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x := &lt;-canal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E0564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// erro de compilação: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E0564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// cannot receive from send-only channel</a:t>
              </a:r>
              <a:endParaRPr lang="en-US" sz="1400" dirty="0"/>
            </a:p>
          </p:txBody>
        </p:sp>
      </p:grpSp>
      <p:sp>
        <p:nvSpPr>
          <p:cNvPr id="24" name="Text 22"/>
          <p:cNvSpPr txBox="1"/>
          <p:nvPr/>
        </p:nvSpPr>
        <p:spPr>
          <a:xfrm>
            <a:off x="6949440" y="43434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canal na direção errada vira erro de compilação, não bug em execução — o princípio do menor privilégio aplicado às funções.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RUPTURA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WaitGroup: esperar todos terminarem</a:t>
            </a:r>
            <a:endParaRPr lang="en-US" sz="3400" dirty="0"/>
          </a:p>
        </p:txBody>
      </p:sp>
      <p:grpSp>
        <p:nvGrpSpPr>
          <p:cNvPr id="26" name="Diagrama 1"/>
          <p:cNvGrpSpPr/>
          <p:nvPr/>
        </p:nvGrpSpPr>
        <p:grpSpPr>
          <a:xfrm>
            <a:off x="548640" y="1737360"/>
            <a:ext cx="11064240" cy="3630168"/>
            <a:chOff x="548640" y="1737360"/>
            <a:chExt cx="11064240" cy="3630168"/>
          </a:xfrm>
        </p:grpSpPr>
        <p:sp>
          <p:nvSpPr>
            <p:cNvPr id="6" name="Text 4"/>
            <p:cNvSpPr txBox="1"/>
            <p:nvPr/>
          </p:nvSpPr>
          <p:spPr>
            <a:xfrm>
              <a:off x="548640" y="196596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G1</a:t>
              </a:r>
              <a:endParaRPr lang="en-US" sz="11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1005840" y="2103120"/>
              <a:ext cx="4480560" cy="914"/>
            </a:xfrm>
            <a:prstGeom prst="line">
              <a:avLst/>
            </a:prstGeom>
            <a:noFill/>
            <a:ln w="25400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Shape 6"/>
            <p:cNvSpPr/>
            <p:nvPr/>
          </p:nvSpPr>
          <p:spPr>
            <a:xfrm>
              <a:off x="5468112" y="2039112"/>
              <a:ext cx="128016" cy="128016"/>
            </a:xfrm>
            <a:prstGeom prst="ellipse">
              <a:avLst/>
            </a:prstGeom>
            <a:solidFill>
              <a:srgbClr val="6FBF8E"/>
            </a:solidFill>
            <a:ln w="12700">
              <a:solidFill>
                <a:srgbClr val="6FBF8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548640" y="256032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G2</a:t>
              </a:r>
              <a:endParaRPr lang="en-US" sz="11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005840" y="2697480"/>
              <a:ext cx="3291840" cy="914"/>
            </a:xfrm>
            <a:prstGeom prst="line">
              <a:avLst/>
            </a:prstGeom>
            <a:noFill/>
            <a:ln w="25400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9"/>
            <p:cNvSpPr/>
            <p:nvPr/>
          </p:nvSpPr>
          <p:spPr>
            <a:xfrm>
              <a:off x="4279392" y="2633472"/>
              <a:ext cx="128016" cy="128016"/>
            </a:xfrm>
            <a:prstGeom prst="ellipse">
              <a:avLst/>
            </a:prstGeom>
            <a:solidFill>
              <a:srgbClr val="6FBF8E"/>
            </a:solidFill>
            <a:ln w="12700">
              <a:solidFill>
                <a:srgbClr val="6FBF8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548640" y="315468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G3</a:t>
              </a:r>
              <a:endParaRPr lang="en-US" sz="11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05840" y="3291840"/>
              <a:ext cx="5120640" cy="914"/>
            </a:xfrm>
            <a:prstGeom prst="line">
              <a:avLst/>
            </a:prstGeom>
            <a:noFill/>
            <a:ln w="25400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Shape 12"/>
            <p:cNvSpPr/>
            <p:nvPr/>
          </p:nvSpPr>
          <p:spPr>
            <a:xfrm>
              <a:off x="6108192" y="3227832"/>
              <a:ext cx="128016" cy="128016"/>
            </a:xfrm>
            <a:prstGeom prst="ellipse">
              <a:avLst/>
            </a:prstGeom>
            <a:solidFill>
              <a:srgbClr val="6FBF8E"/>
            </a:solidFill>
            <a:ln w="12700">
              <a:solidFill>
                <a:srgbClr val="6FBF8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548640" y="374904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G4</a:t>
              </a:r>
              <a:endParaRPr lang="en-US" sz="11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005840" y="3886200"/>
              <a:ext cx="3931920" cy="914"/>
            </a:xfrm>
            <a:prstGeom prst="line">
              <a:avLst/>
            </a:prstGeom>
            <a:noFill/>
            <a:ln w="25400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15"/>
            <p:cNvSpPr/>
            <p:nvPr/>
          </p:nvSpPr>
          <p:spPr>
            <a:xfrm>
              <a:off x="4919472" y="3822192"/>
              <a:ext cx="128016" cy="128016"/>
            </a:xfrm>
            <a:prstGeom prst="ellipse">
              <a:avLst/>
            </a:prstGeom>
            <a:solidFill>
              <a:srgbClr val="6FBF8E"/>
            </a:solidFill>
            <a:ln w="12700">
              <a:solidFill>
                <a:srgbClr val="6FBF8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Shape 16"/>
            <p:cNvSpPr/>
            <p:nvPr/>
          </p:nvSpPr>
          <p:spPr>
            <a:xfrm>
              <a:off x="6309360" y="1737360"/>
              <a:ext cx="73152" cy="2514600"/>
            </a:xfrm>
            <a:prstGeom prst="rect">
              <a:avLst/>
            </a:prstGeom>
            <a:solidFill>
              <a:srgbClr val="E3A33B"/>
            </a:solidFill>
            <a:ln w="127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5669280" y="43434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grupo.Wait()</a:t>
              </a:r>
              <a:endParaRPr lang="en-US" sz="11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949440" y="1783080"/>
              <a:ext cx="4663440" cy="246888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7178040" y="1947672"/>
              <a:ext cx="4206240" cy="21396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var grupo sync.WaitGroup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grupo.Add(1)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go func() {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defer grupo.Done()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// trabalho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}()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b="1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grupo.Wait()</a:t>
              </a:r>
              <a:endParaRPr lang="en-US" sz="14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548640" y="4983480"/>
              <a:ext cx="3566160" cy="384048"/>
            </a:xfrm>
            <a:prstGeom prst="roundRect">
              <a:avLst>
                <a:gd name="adj" fmla="val 14286"/>
              </a:avLst>
            </a:prstGeom>
            <a:solidFill>
              <a:srgbClr val="070B0D"/>
            </a:solidFill>
            <a:ln w="15875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548640" y="4983480"/>
              <a:ext cx="35661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channel → comunica dados</a:t>
              </a:r>
              <a:endParaRPr lang="en-US" sz="13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389120" y="4983480"/>
              <a:ext cx="4480560" cy="384048"/>
            </a:xfrm>
            <a:prstGeom prst="roundRect">
              <a:avLst>
                <a:gd name="adj" fmla="val 14286"/>
              </a:avLst>
            </a:prstGeom>
            <a:solidFill>
              <a:srgbClr val="070B0D"/>
            </a:solidFill>
            <a:ln w="15875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4389120" y="4983480"/>
              <a:ext cx="4480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WaitGroup → coordena a finalização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02692" y="6355080"/>
            <a:ext cx="537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da solução em Go</a:t>
            </a:r>
            <a:endParaRPr lang="en-US" sz="3400" dirty="0"/>
          </a:p>
        </p:txBody>
      </p:sp>
      <p:grpSp>
        <p:nvGrpSpPr>
          <p:cNvPr id="35" name="Diagrama 1"/>
          <p:cNvGrpSpPr/>
          <p:nvPr/>
        </p:nvGrpSpPr>
        <p:grpSpPr>
          <a:xfrm>
            <a:off x="548640" y="1783080"/>
            <a:ext cx="5120640" cy="3246120"/>
            <a:chOff x="548640" y="1783080"/>
            <a:chExt cx="5120640" cy="3246120"/>
          </a:xfrm>
        </p:grpSpPr>
        <p:sp>
          <p:nvSpPr>
            <p:cNvPr id="6" name="Shape 4"/>
            <p:cNvSpPr/>
            <p:nvPr/>
          </p:nvSpPr>
          <p:spPr>
            <a:xfrm>
              <a:off x="548640" y="1783080"/>
              <a:ext cx="5120640" cy="50292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548640" y="1783080"/>
              <a:ext cx="51206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main()</a:t>
              </a:r>
              <a:endParaRPr lang="en-US" sz="15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1143000" y="2331720"/>
              <a:ext cx="914" cy="548640"/>
            </a:xfrm>
            <a:prstGeom prst="line">
              <a:avLst/>
            </a:prstGeom>
            <a:noFill/>
            <a:ln w="22225">
              <a:solidFill>
                <a:srgbClr val="4A585E"/>
              </a:solidFill>
              <a:prstDash val="dash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1234440" y="246888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A58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go</a:t>
              </a:r>
              <a:endParaRPr lang="en-US" sz="11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800100" y="2948940"/>
              <a:ext cx="685800" cy="68580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800100" y="2948940"/>
              <a:ext cx="685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</a:t>
              </a:r>
              <a:endParaRPr lang="en-US" sz="2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1508760" y="3291840"/>
              <a:ext cx="850392" cy="914"/>
            </a:xfrm>
            <a:prstGeom prst="line">
              <a:avLst/>
            </a:prstGeom>
            <a:noFill/>
            <a:ln w="22225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11"/>
            <p:cNvSpPr/>
            <p:nvPr/>
          </p:nvSpPr>
          <p:spPr>
            <a:xfrm>
              <a:off x="2450592" y="3044952"/>
              <a:ext cx="384048" cy="493776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Shape 12"/>
            <p:cNvSpPr/>
            <p:nvPr/>
          </p:nvSpPr>
          <p:spPr>
            <a:xfrm>
              <a:off x="2542764" y="3191988"/>
              <a:ext cx="199705" cy="199705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Shape 13"/>
            <p:cNvSpPr/>
            <p:nvPr/>
          </p:nvSpPr>
          <p:spPr>
            <a:xfrm>
              <a:off x="2889504" y="3044952"/>
              <a:ext cx="384048" cy="493776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Shape 14"/>
            <p:cNvSpPr/>
            <p:nvPr/>
          </p:nvSpPr>
          <p:spPr>
            <a:xfrm>
              <a:off x="2981676" y="3191988"/>
              <a:ext cx="199705" cy="199705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15"/>
            <p:cNvSpPr/>
            <p:nvPr/>
          </p:nvSpPr>
          <p:spPr>
            <a:xfrm>
              <a:off x="3328416" y="3044952"/>
              <a:ext cx="384048" cy="493776"/>
            </a:xfrm>
            <a:prstGeom prst="rect">
              <a:avLst/>
            </a:prstGeom>
            <a:solidFill>
              <a:srgbClr val="070B0D"/>
            </a:solidFill>
            <a:ln w="15875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2231136" y="3630168"/>
              <a:ext cx="170078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make(chan int, 3)</a:t>
              </a:r>
              <a:endParaRPr lang="en-US" sz="1100" dirty="0"/>
            </a:p>
          </p:txBody>
        </p:sp>
        <p:sp>
          <p:nvSpPr>
            <p:cNvPr id="20" name="Shape 18"/>
            <p:cNvSpPr/>
            <p:nvPr/>
          </p:nvSpPr>
          <p:spPr>
            <a:xfrm flipV="1">
              <a:off x="3776472" y="2651760"/>
              <a:ext cx="749808" cy="640080"/>
            </a:xfrm>
            <a:prstGeom prst="line">
              <a:avLst/>
            </a:prstGeom>
            <a:noFill/>
            <a:ln w="15875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Shape 19"/>
            <p:cNvSpPr/>
            <p:nvPr/>
          </p:nvSpPr>
          <p:spPr>
            <a:xfrm>
              <a:off x="4594860" y="2400300"/>
              <a:ext cx="502920" cy="50292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4594860" y="240030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C1</a:t>
              </a:r>
              <a:endParaRPr lang="en-US" sz="12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776472" y="3291840"/>
              <a:ext cx="749808" cy="640080"/>
            </a:xfrm>
            <a:prstGeom prst="line">
              <a:avLst/>
            </a:prstGeom>
            <a:noFill/>
            <a:ln w="15875">
              <a:solidFill>
                <a:srgbClr val="3FC8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Shape 25"/>
            <p:cNvSpPr/>
            <p:nvPr/>
          </p:nvSpPr>
          <p:spPr>
            <a:xfrm>
              <a:off x="4594860" y="3680460"/>
              <a:ext cx="502920" cy="502920"/>
            </a:xfrm>
            <a:prstGeom prst="ellipse">
              <a:avLst/>
            </a:prstGeom>
            <a:solidFill>
              <a:srgbClr val="070B0D"/>
            </a:solidFill>
            <a:ln w="25400">
              <a:solidFill>
                <a:srgbClr val="E8EDE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4594860" y="368046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C2</a:t>
              </a:r>
              <a:endParaRPr lang="en-US" sz="12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548640" y="4572000"/>
              <a:ext cx="5120640" cy="73152"/>
            </a:xfrm>
            <a:prstGeom prst="rect">
              <a:avLst/>
            </a:prstGeom>
            <a:solidFill>
              <a:srgbClr val="E3A33B"/>
            </a:solidFill>
            <a:ln w="127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Text 28"/>
            <p:cNvSpPr txBox="1"/>
            <p:nvPr/>
          </p:nvSpPr>
          <p:spPr>
            <a:xfrm>
              <a:off x="548640" y="4754880"/>
              <a:ext cx="5120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grupo.Wait(): main espera os consumidores</a:t>
              </a:r>
              <a:endParaRPr lang="en-US" sz="1100" dirty="0"/>
            </a:p>
          </p:txBody>
        </p:sp>
      </p:grpSp>
      <p:grpSp>
        <p:nvGrpSpPr>
          <p:cNvPr id="36" name="Diagrama 2"/>
          <p:cNvGrpSpPr/>
          <p:nvPr/>
        </p:nvGrpSpPr>
        <p:grpSpPr>
          <a:xfrm>
            <a:off x="6126480" y="1490472"/>
            <a:ext cx="5486400" cy="3310128"/>
            <a:chOff x="6126480" y="1490472"/>
            <a:chExt cx="5486400" cy="3310128"/>
          </a:xfrm>
        </p:grpSpPr>
        <p:sp>
          <p:nvSpPr>
            <p:cNvPr id="31" name="Shape 29"/>
            <p:cNvSpPr/>
            <p:nvPr/>
          </p:nvSpPr>
          <p:spPr>
            <a:xfrm>
              <a:off x="6126480" y="1783080"/>
              <a:ext cx="5486400" cy="3017520"/>
            </a:xfrm>
            <a:prstGeom prst="rect">
              <a:avLst/>
            </a:prstGeom>
            <a:solidFill>
              <a:srgbClr val="0D1417"/>
            </a:solidFill>
            <a:ln w="12700">
              <a:solidFill>
                <a:srgbClr val="26323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Text 30"/>
            <p:cNvSpPr txBox="1"/>
            <p:nvPr/>
          </p:nvSpPr>
          <p:spPr>
            <a:xfrm>
              <a:off x="6355080" y="1947672"/>
              <a:ext cx="5029200" cy="2688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func main() {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canal := make(chan int, capacidade)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var grupo sync.WaitGroup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E8EDE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go produtor(canal) // fecha o canal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for id := 1; id &lt;= consumidores; id++ {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    grupo.Add(1)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    go consumidor(id, canal, &amp;grupo)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}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b="1" dirty="0">
                  <a:solidFill>
                    <a:srgbClr val="E3A3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grupo.Wait()</a:t>
              </a:r>
              <a:endParaRPr lang="en-US" sz="140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B9C4C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}</a:t>
              </a:r>
              <a:endParaRPr lang="en-US" sz="1400" dirty="0"/>
            </a:p>
          </p:txBody>
        </p:sp>
        <p:sp>
          <p:nvSpPr>
            <p:cNvPr id="33" name="Text 31"/>
            <p:cNvSpPr txBox="1"/>
            <p:nvPr/>
          </p:nvSpPr>
          <p:spPr>
            <a:xfrm>
              <a:off x="6126480" y="1490472"/>
              <a:ext cx="5486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A979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orquestração · esqueleto</a:t>
              </a:r>
              <a:endParaRPr lang="en-US" sz="1000" dirty="0"/>
            </a:p>
          </p:txBody>
        </p:sp>
      </p:grpSp>
      <p:sp>
        <p:nvSpPr>
          <p:cNvPr id="34" name="Text 32"/>
          <p:cNvSpPr txBox="1"/>
          <p:nvPr/>
        </p:nvSpPr>
        <p:spPr>
          <a:xfrm>
            <a:off x="548640" y="56408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Produtor e consumidores simulam trabalho com time.Sleep. </a:t>
            </a:r>
            <a:endParaRPr lang="en-US" sz="1400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F61BE4EE-B70B-6CF4-BE02-E70FF4C3DFF4}"/>
              </a:ext>
            </a:extLst>
          </p:cNvPr>
          <p:cNvSpPr txBox="1"/>
          <p:nvPr/>
        </p:nvSpPr>
        <p:spPr>
          <a:xfrm>
            <a:off x="550071" y="35433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PROVA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Demonstração: preveja, execute, observe</a:t>
            </a:r>
            <a:endParaRPr lang="en-US" sz="3400" dirty="0"/>
          </a:p>
        </p:txBody>
      </p:sp>
      <p:grpSp>
        <p:nvGrpSpPr>
          <p:cNvPr id="34" name="Diagrama 1"/>
          <p:cNvGrpSpPr/>
          <p:nvPr/>
        </p:nvGrpSpPr>
        <p:grpSpPr>
          <a:xfrm>
            <a:off x="548640" y="1600200"/>
            <a:ext cx="5303520" cy="365760"/>
            <a:chOff x="548640" y="1600200"/>
            <a:chExt cx="5303520" cy="365760"/>
          </a:xfrm>
        </p:grpSpPr>
        <p:sp>
          <p:nvSpPr>
            <p:cNvPr id="6" name="Shape 4"/>
            <p:cNvSpPr/>
            <p:nvPr/>
          </p:nvSpPr>
          <p:spPr>
            <a:xfrm>
              <a:off x="548640" y="1600200"/>
              <a:ext cx="2194560" cy="365760"/>
            </a:xfrm>
            <a:prstGeom prst="roundRect">
              <a:avLst>
                <a:gd name="adj" fmla="val 15000"/>
              </a:avLst>
            </a:prstGeom>
            <a:solidFill>
              <a:srgbClr val="070B0D"/>
            </a:solidFill>
            <a:ln w="15875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548640" y="160020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go.dev/play</a:t>
              </a:r>
              <a:endParaRPr lang="en-US" sz="13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2926080" y="1600200"/>
              <a:ext cx="2926080" cy="365760"/>
            </a:xfrm>
            <a:prstGeom prst="roundRect">
              <a:avLst>
                <a:gd name="adj" fmla="val 15000"/>
              </a:avLst>
            </a:prstGeom>
            <a:solidFill>
              <a:srgbClr val="070B0D"/>
            </a:solidFill>
            <a:ln w="15875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2926080" y="1600200"/>
              <a:ext cx="29260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3FC8D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prodconsumer.web.app</a:t>
              </a:r>
              <a:endParaRPr lang="en-US" sz="1300" dirty="0"/>
            </a:p>
          </p:txBody>
        </p:sp>
      </p:grp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312724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A97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ALTERAÇÃO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A97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PERGUNTA AO PÚBLICO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A97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 QUE OBSERVAR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FC8D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Rodar como está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espera em cada fase?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1: os consumidores esperam. Fase 2: o canal enche e o produtor espera.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FC8D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capacidade =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produtor vai esperar mais ou menos?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buffer de 1, o produtor bloqueia a cada item da rajada.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FC8D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consumidores =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fila vai crescer?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rajada, o canal fica cheio por mais tempo e o produtor espera várias vezes.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3A3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Bônus: remover close(canal)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programa termina?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564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fatal error: all goroutines are asleep - deadlock!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A9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Playground usa um relógio simulado: os tempos mostram ordem e bloqueio, não desempenho real.</a:t>
            </a:r>
            <a:endParaRPr lang="en-US" sz="130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C4F161C5-82F2-C8C7-E05A-3D2D1D084397}"/>
              </a:ext>
            </a:extLst>
          </p:cNvPr>
          <p:cNvSpPr txBox="1"/>
          <p:nvPr/>
        </p:nvSpPr>
        <p:spPr>
          <a:xfrm>
            <a:off x="550071" y="35433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PROVA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× Java × Go: onde mora a sincronização</a:t>
            </a:r>
            <a:endParaRPr lang="en-US" sz="3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3200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8A97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CRITÉRIO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8ED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8ED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JAVA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FC8D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A97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 + memória compartilhada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 + monitores (synchronized)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Goroutines + channels e outras primitivas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A97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Sincronização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Mutexes, semáforos, variáveis de condição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synchronized, wait / notify e outras APIs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Operações de canal, pacote sync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A97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Produtor–consumidor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Coordenação explícita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Coordenação explícita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Expresso diretamente com um canal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A97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Trade-off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 de baixo nível × maior complexidade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Abstração mais alta × coordenação ainda explícita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Comunicação direta × exige entender a semântica de canais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A97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Gerenciamento de memória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malloc / free na mão, mais destroy do mutex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new, liberado pelo coletor de lixo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8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make, liberado pelo coletor de lixo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B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591388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i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há vencedor: a diferença está em onde mora a responsabilidade pela sincronização.</a:t>
            </a:r>
            <a:endParaRPr lang="en-US" sz="1800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0A4F8822-F370-C815-14EF-EC358FD56B20}"/>
              </a:ext>
            </a:extLst>
          </p:cNvPr>
          <p:cNvSpPr txBox="1"/>
          <p:nvPr/>
        </p:nvSpPr>
        <p:spPr>
          <a:xfrm>
            <a:off x="550071" y="35433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PROVA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canais não resolvem sozinhos</a:t>
            </a:r>
            <a:endParaRPr lang="en-US" sz="3400" dirty="0"/>
          </a:p>
        </p:txBody>
      </p:sp>
      <p:grpSp>
        <p:nvGrpSpPr>
          <p:cNvPr id="18" name="Diagrama 1"/>
          <p:cNvGrpSpPr/>
          <p:nvPr/>
        </p:nvGrpSpPr>
        <p:grpSpPr>
          <a:xfrm>
            <a:off x="548640" y="1783080"/>
            <a:ext cx="4251960" cy="457200"/>
            <a:chOff x="548640" y="1783080"/>
            <a:chExt cx="4251960" cy="457200"/>
          </a:xfrm>
        </p:grpSpPr>
        <p:sp>
          <p:nvSpPr>
            <p:cNvPr id="6" name="Shape 4"/>
            <p:cNvSpPr/>
            <p:nvPr/>
          </p:nvSpPr>
          <p:spPr>
            <a:xfrm>
              <a:off x="548640" y="1874520"/>
              <a:ext cx="201168" cy="201168"/>
            </a:xfrm>
            <a:prstGeom prst="ellipse">
              <a:avLst/>
            </a:prstGeom>
            <a:solidFill>
              <a:srgbClr val="E0564B"/>
            </a:solidFill>
            <a:ln w="12700">
              <a:solidFill>
                <a:srgbClr val="E0564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960120" y="178308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9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Race condition ainda é possível</a:t>
              </a:r>
              <a:endParaRPr lang="en-US" sz="1900" dirty="0"/>
            </a:p>
          </p:txBody>
        </p:sp>
      </p:grpSp>
      <p:sp>
        <p:nvSpPr>
          <p:cNvPr id="8" name="Text 6"/>
          <p:cNvSpPr txBox="1"/>
          <p:nvPr/>
        </p:nvSpPr>
        <p:spPr>
          <a:xfrm>
            <a:off x="4937760" y="1801368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um ponteiro e continuar modificando o dado depois do envio volta a compartilhar memória. O detector go run -race ajuda a encontrar.</a:t>
            </a:r>
            <a:endParaRPr lang="en-US" sz="1500" dirty="0"/>
          </a:p>
        </p:txBody>
      </p:sp>
      <p:grpSp>
        <p:nvGrpSpPr>
          <p:cNvPr id="19" name="Diagrama 2"/>
          <p:cNvGrpSpPr/>
          <p:nvPr/>
        </p:nvGrpSpPr>
        <p:grpSpPr>
          <a:xfrm>
            <a:off x="548640" y="2743200"/>
            <a:ext cx="4251960" cy="457200"/>
            <a:chOff x="548640" y="2743200"/>
            <a:chExt cx="4251960" cy="457200"/>
          </a:xfrm>
        </p:grpSpPr>
        <p:sp>
          <p:nvSpPr>
            <p:cNvPr id="9" name="Shape 7"/>
            <p:cNvSpPr/>
            <p:nvPr/>
          </p:nvSpPr>
          <p:spPr>
            <a:xfrm>
              <a:off x="548640" y="2834640"/>
              <a:ext cx="201168" cy="201168"/>
            </a:xfrm>
            <a:prstGeom prst="ellipse">
              <a:avLst/>
            </a:prstGeom>
            <a:solidFill>
              <a:srgbClr val="E0564B"/>
            </a:solidFill>
            <a:ln w="12700">
              <a:solidFill>
                <a:srgbClr val="E0564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960120" y="274320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9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Deadlock ainda é possível</a:t>
              </a:r>
              <a:endParaRPr lang="en-US" sz="1900" dirty="0"/>
            </a:p>
          </p:txBody>
        </p:sp>
      </p:grpSp>
      <p:sp>
        <p:nvSpPr>
          <p:cNvPr id="11" name="Text 9"/>
          <p:cNvSpPr txBox="1"/>
          <p:nvPr/>
        </p:nvSpPr>
        <p:spPr>
          <a:xfrm>
            <a:off x="4937760" y="2761488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Esquecer o close, ou fazer todos esperarem uns pelos outros, trava o programa. O runtime detecta quando todas as goroutines dormem.</a:t>
            </a:r>
            <a:endParaRPr lang="en-US" sz="1500" dirty="0"/>
          </a:p>
        </p:txBody>
      </p:sp>
      <p:grpSp>
        <p:nvGrpSpPr>
          <p:cNvPr id="20" name="Diagrama 3"/>
          <p:cNvGrpSpPr/>
          <p:nvPr/>
        </p:nvGrpSpPr>
        <p:grpSpPr>
          <a:xfrm>
            <a:off x="548640" y="3703320"/>
            <a:ext cx="11064240" cy="1417320"/>
            <a:chOff x="548640" y="3703320"/>
            <a:chExt cx="11064240" cy="1417320"/>
          </a:xfrm>
        </p:grpSpPr>
        <p:sp>
          <p:nvSpPr>
            <p:cNvPr id="12" name="Shape 10"/>
            <p:cNvSpPr/>
            <p:nvPr/>
          </p:nvSpPr>
          <p:spPr>
            <a:xfrm>
              <a:off x="548640" y="3794760"/>
              <a:ext cx="201168" cy="201168"/>
            </a:xfrm>
            <a:prstGeom prst="ellipse">
              <a:avLst/>
            </a:prstGeom>
            <a:solidFill>
              <a:srgbClr val="E3A33B"/>
            </a:solidFill>
            <a:ln w="127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960120" y="370332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9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Canal fechado tem regras</a:t>
              </a:r>
              <a:endParaRPr lang="en-US" sz="190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4937760" y="3721608"/>
              <a:ext cx="66751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500" dirty="0">
                  <a:solidFill>
                    <a:srgbClr val="C3CCC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Enviar para um canal fechado causa panic; fechar duas vezes também.</a:t>
              </a:r>
              <a:endParaRPr lang="en-US" sz="15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48640" y="4754880"/>
              <a:ext cx="201168" cy="201168"/>
            </a:xfrm>
            <a:prstGeom prst="ellipse">
              <a:avLst/>
            </a:prstGeom>
            <a:solidFill>
              <a:srgbClr val="E3A33B"/>
            </a:solidFill>
            <a:ln w="127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960120" y="466344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9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Mutex continua útil</a:t>
              </a:r>
              <a:endParaRPr lang="en-US" sz="1900" dirty="0"/>
            </a:p>
          </p:txBody>
        </p:sp>
      </p:grpSp>
      <p:sp>
        <p:nvSpPr>
          <p:cNvPr id="17" name="Text 15"/>
          <p:cNvSpPr txBox="1"/>
          <p:nvPr/>
        </p:nvSpPr>
        <p:spPr>
          <a:xfrm>
            <a:off x="4937760" y="4681728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proteger um estado simples, sync.Mutex pode ser a opção mais clara. Canais não substituem todas as primitivas.</a:t>
            </a:r>
            <a:endParaRPr lang="en-US" sz="15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5F386D36-8AAC-8A3D-FD7D-C65F6C99FA9B}"/>
              </a:ext>
            </a:extLst>
          </p:cNvPr>
          <p:cNvSpPr txBox="1"/>
          <p:nvPr/>
        </p:nvSpPr>
        <p:spPr>
          <a:xfrm>
            <a:off x="550071" y="35433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PROVA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0789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i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coordenação deixa de ser uma disciplina que o programador sustenta a cada linha e passa a ser uma propriedade do canal.</a:t>
            </a:r>
            <a:endParaRPr lang="en-US" sz="3200" dirty="0"/>
          </a:p>
        </p:txBody>
      </p:sp>
      <p:grpSp>
        <p:nvGrpSpPr>
          <p:cNvPr id="18" name="Diagrama 1"/>
          <p:cNvGrpSpPr/>
          <p:nvPr/>
        </p:nvGrpSpPr>
        <p:grpSpPr>
          <a:xfrm>
            <a:off x="548640" y="3419856"/>
            <a:ext cx="11064240" cy="2523744"/>
            <a:chOff x="548640" y="3419856"/>
            <a:chExt cx="11064240" cy="2523744"/>
          </a:xfrm>
        </p:grpSpPr>
        <p:sp>
          <p:nvSpPr>
            <p:cNvPr id="6" name="Shape 4"/>
            <p:cNvSpPr/>
            <p:nvPr/>
          </p:nvSpPr>
          <p:spPr>
            <a:xfrm>
              <a:off x="557784" y="3419856"/>
              <a:ext cx="201168" cy="201168"/>
            </a:xfrm>
            <a:prstGeom prst="ellipse">
              <a:avLst/>
            </a:prstGeom>
            <a:solidFill>
              <a:srgbClr val="8A979C"/>
            </a:solidFill>
            <a:ln w="12700">
              <a:solidFill>
                <a:srgbClr val="8A979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Shape 5"/>
            <p:cNvSpPr/>
            <p:nvPr/>
          </p:nvSpPr>
          <p:spPr>
            <a:xfrm>
              <a:off x="868680" y="3520440"/>
              <a:ext cx="3337560" cy="914"/>
            </a:xfrm>
            <a:prstGeom prst="line">
              <a:avLst/>
            </a:prstGeom>
            <a:noFill/>
            <a:ln w="22225">
              <a:solidFill>
                <a:srgbClr val="26323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548640" y="3840480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2000" b="1" dirty="0">
                  <a:solidFill>
                    <a:srgbClr val="E8ED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O problema</a:t>
              </a:r>
              <a:endParaRPr lang="en-US" sz="2000" dirty="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548640" y="4297680"/>
              <a:ext cx="32918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500" dirty="0">
                  <a:solidFill>
                    <a:srgbClr val="C3CCC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Ritmos diferentes, buffer finito, esperas em cheio e vazio.</a:t>
              </a:r>
              <a:endParaRPr lang="en-US" sz="15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352544" y="3419856"/>
              <a:ext cx="201168" cy="201168"/>
            </a:xfrm>
            <a:prstGeom prst="ellipse">
              <a:avLst/>
            </a:prstGeom>
            <a:solidFill>
              <a:srgbClr val="E3A33B"/>
            </a:solidFill>
            <a:ln w="12700">
              <a:solidFill>
                <a:srgbClr val="E3A33B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9"/>
            <p:cNvSpPr/>
            <p:nvPr/>
          </p:nvSpPr>
          <p:spPr>
            <a:xfrm>
              <a:off x="4663440" y="3520440"/>
              <a:ext cx="3337560" cy="914"/>
            </a:xfrm>
            <a:prstGeom prst="line">
              <a:avLst/>
            </a:prstGeom>
            <a:noFill/>
            <a:ln w="22225">
              <a:solidFill>
                <a:srgbClr val="26323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4343400" y="3840480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2000" b="1" dirty="0">
                  <a:solidFill>
                    <a:srgbClr val="E3A3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O modelo tradicional</a:t>
              </a:r>
              <a:endParaRPr lang="en-US" sz="20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4343400" y="4297680"/>
              <a:ext cx="32918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500" dirty="0">
                  <a:solidFill>
                    <a:srgbClr val="C3CCC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Memória compartilhada e primitivas explícitas, frágeis à ordem.</a:t>
              </a:r>
              <a:endParaRPr lang="en-US" sz="15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8147304" y="3419856"/>
              <a:ext cx="201168" cy="201168"/>
            </a:xfrm>
            <a:prstGeom prst="ellipse">
              <a:avLst/>
            </a:prstGeom>
            <a:solidFill>
              <a:srgbClr val="3FC8DC"/>
            </a:solidFill>
            <a:ln w="12700">
              <a:solidFill>
                <a:srgbClr val="3FC8DC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8138160" y="3840480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2000" b="1" dirty="0">
                  <a:solidFill>
                    <a:srgbClr val="3FC8DC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Go</a:t>
              </a:r>
              <a:endParaRPr lang="en-US" sz="2000" dirty="0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8138160" y="4297680"/>
              <a:ext cx="32918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500" dirty="0">
                  <a:solidFill>
                    <a:srgbClr val="C3CCC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Goroutines comunicando por canais, com bloqueio embutido nas operações.</a:t>
              </a:r>
              <a:endParaRPr lang="en-US" sz="150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8686800" y="5486400"/>
              <a:ext cx="2926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spcAft>
                  <a:spcPts val="600"/>
                </a:spcAft>
                <a:buNone/>
              </a:pPr>
              <a:endParaRPr lang="en-US" sz="2200" dirty="0"/>
            </a:p>
          </p:txBody>
        </p:sp>
      </p:grpSp>
      <p:sp>
        <p:nvSpPr>
          <p:cNvPr id="20" name="Text 0">
            <a:extLst>
              <a:ext uri="{FF2B5EF4-FFF2-40B4-BE49-F238E27FC236}">
                <a16:creationId xmlns:a16="http://schemas.microsoft.com/office/drawing/2014/main" id="{1110EF4A-AB1C-BDB8-9D29-585A0E247546}"/>
              </a:ext>
            </a:extLst>
          </p:cNvPr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SÍNTESE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2762" y="656298"/>
            <a:ext cx="9540169" cy="188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3FC8DC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                     </a:t>
            </a:r>
            <a:r>
              <a:rPr lang="en-US" sz="6000" b="1" kern="0" spc="200" dirty="0" err="1">
                <a:solidFill>
                  <a:srgbClr val="3FC8DC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Perguntas</a:t>
            </a:r>
            <a:r>
              <a:rPr lang="en-US" sz="6000" b="1" kern="0" spc="200" dirty="0">
                <a:solidFill>
                  <a:srgbClr val="3FC8DC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?</a:t>
            </a:r>
            <a:endParaRPr lang="en-US" sz="6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72884" y="1995462"/>
            <a:ext cx="10846231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endParaRPr lang="en-US" sz="1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F37C32D-F3E7-DE04-7017-391122B1F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588" y="4159366"/>
            <a:ext cx="1941952" cy="264752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43025D2-1BDA-1C3A-4BB0-53E93E7FA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9462" y="3347810"/>
            <a:ext cx="3575792" cy="357579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C84648E-4181-A9B4-D823-E62D2C950E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46" y="5979330"/>
            <a:ext cx="2031398" cy="7515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36C3C90-DE87-2A4D-C4F5-42A2E8301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494" y="3823020"/>
            <a:ext cx="3100582" cy="310058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CBA2DA-9F24-6CB0-3DF3-714EFFF80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916B796-3A56-6396-E3A4-081DE112F2DD}"/>
              </a:ext>
            </a:extLst>
          </p:cNvPr>
          <p:cNvSpPr txBox="1"/>
          <p:nvPr/>
        </p:nvSpPr>
        <p:spPr>
          <a:xfrm>
            <a:off x="509009" y="651638"/>
            <a:ext cx="9540169" cy="188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3FC8DC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                     </a:t>
            </a:r>
            <a:r>
              <a:rPr lang="en-US" sz="6000" b="1" kern="0" spc="200" dirty="0" err="1">
                <a:solidFill>
                  <a:srgbClr val="3FC8DC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Obrigada</a:t>
            </a:r>
            <a:r>
              <a:rPr lang="en-US" sz="6000" b="1" kern="0" spc="200" dirty="0">
                <a:solidFill>
                  <a:srgbClr val="3FC8DC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!</a:t>
            </a:r>
            <a:endParaRPr lang="en-US" sz="6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F199B9-4683-6272-4014-5212F30E9182}"/>
              </a:ext>
            </a:extLst>
          </p:cNvPr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2CAF449-E7C7-989A-DCB6-0EA6F2F6B293}"/>
              </a:ext>
            </a:extLst>
          </p:cNvPr>
          <p:cNvSpPr txBox="1"/>
          <p:nvPr/>
        </p:nvSpPr>
        <p:spPr>
          <a:xfrm>
            <a:off x="672884" y="1995462"/>
            <a:ext cx="10846231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endParaRPr lang="en-US" sz="1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AED0F1C-F42E-14F3-DDCF-BE42B6C8B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444" y="3280978"/>
            <a:ext cx="3587012" cy="358701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66A5B47-6579-B122-329C-DA211262F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287" y="4083909"/>
            <a:ext cx="2849806" cy="284980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E0538F4D-E9B7-42F1-C2CE-ADE96ABA3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46" y="5979330"/>
            <a:ext cx="2031398" cy="751500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B9B88213-EFCF-C506-7435-66B004DA7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891" y="3688251"/>
            <a:ext cx="3208456" cy="320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7992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6D475C-09F5-E829-43CA-8EB8832C1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5E87CC-661D-3CA4-687D-09818BADB578}"/>
              </a:ext>
            </a:extLst>
          </p:cNvPr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B8AF8DC-EB60-80A4-C25E-DCB50F249249}"/>
              </a:ext>
            </a:extLst>
          </p:cNvPr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7638D1C-9274-06BE-CCD4-0E42BE1B4FDD}"/>
              </a:ext>
            </a:extLst>
          </p:cNvPr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BCB6E6F-5CCE-C344-B44F-F8551D87AF54}"/>
              </a:ext>
            </a:extLst>
          </p:cNvPr>
          <p:cNvSpPr txBox="1"/>
          <p:nvPr/>
        </p:nvSpPr>
        <p:spPr>
          <a:xfrm>
            <a:off x="548640" y="169164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FRENCH, R. The Go gopher. Licença Creative Commons Atribuição 4.0 (CC BY 4.0). Disponível em: https://go.dev/blog/gopher.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GERRAND, A. Share memory by communicating. The Go Blog, 13 jul. 2010. Disponível em: https://go.dev/blog/codelab-share.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HOARE, C. A. R. Communicating sequential processes. Communications of the ACM, v. 21, n. 8, p. 666–677, 1978.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TANENBAUM, A. S.; BOS, H. Sistemas operacionais modernos. 4. ed. São Paulo: Pearson, 2016.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 AUTHORS. Effective Go. Disponível em: https://go.dev/doc/effective_go.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 AUTHORS. Go 1.19 release notes. Disponível em: https://go.dev/doc/go1.19.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 AUTHORS. The Go memory model. Disponível em: https://go.dev/ref/mem.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 AUTHORS. The Go programming language specification. Disponível em: https://go.dev/ref/spec.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 AUTHORS. runtime/chan.go. Disponível em: https://github.com/golang/go/blob/master/src/runtime/chan.go.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C3C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 AUTHORS. runtime/stack.go. Disponível em: https://go.googlesource.com/go/+/refs/heads/master/src/runtime/stack.go.</a:t>
            </a:r>
            <a:endParaRPr lang="en-US" sz="1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07949D0-A3BE-E7DC-BD70-6051A7DFDF9A}"/>
              </a:ext>
            </a:extLst>
          </p:cNvPr>
          <p:cNvSpPr txBox="1"/>
          <p:nvPr/>
        </p:nvSpPr>
        <p:spPr>
          <a:xfrm>
            <a:off x="672884" y="1995462"/>
            <a:ext cx="10846231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endParaRPr lang="en-US" sz="1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5069EFB9-2A69-2EB7-ED7B-8C725CA7CD78}"/>
              </a:ext>
            </a:extLst>
          </p:cNvPr>
          <p:cNvSpPr txBox="1"/>
          <p:nvPr/>
        </p:nvSpPr>
        <p:spPr>
          <a:xfrm>
            <a:off x="825284" y="2147862"/>
            <a:ext cx="10846231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endParaRPr lang="en-US" sz="1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058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1093</TotalTime>
  <Words>5877</Words>
  <Application>Microsoft Office PowerPoint</Application>
  <PresentationFormat>Widescreen</PresentationFormat>
  <Paragraphs>566</Paragraphs>
  <Slides>37</Slides>
  <Notes>37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3" baseType="lpstr">
      <vt:lpstr>Aptos</vt:lpstr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Problema Produtor–Consumidor e Concorrência em Go</dc:title>
  <dc:subject>PptxGenJS Presentation</dc:subject>
  <dc:creator>PptxGenJS</dc:creator>
  <cp:lastModifiedBy>MARCIA</cp:lastModifiedBy>
  <cp:revision>10</cp:revision>
  <dcterms:created xsi:type="dcterms:W3CDTF">2026-09-19T21:06:52Z</dcterms:created>
  <dcterms:modified xsi:type="dcterms:W3CDTF">2026-10-14T11:57:06Z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2026-09-19T23:46:50Z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38ae2f02-5710-4e12-80bb-83600c3fdf1e</vt:lpwstr>
  </property>
  <property fmtid="{D5CDD505-2E9C-101B-9397-08002B2CF9AE}" pid="7" name="MSIP_Label_defa4170-0d19-0005-0004-bc88714345d2_ActionId">
    <vt:lpwstr>ab285580-48aa-4000-8d92-2c7a2bac1b64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